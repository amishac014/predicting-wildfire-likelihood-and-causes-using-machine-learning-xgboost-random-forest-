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Roboto" panose="02000000000000000000" pitchFamily="2" charset="0"/>
      <p:regular r:id="rId16"/>
      <p:bold r:id="rId17"/>
      <p:italic r:id="rId18"/>
      <p:boldItalic r:id="rId19"/>
    </p:embeddedFont>
    <p:embeddedFont>
      <p:font typeface="Roboto Slab" pitchFamily="2" charset="0"/>
      <p:regular r:id="rId2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DCF6FC-CBAC-4C57-874E-255A2AC8927A}">
  <a:tblStyle styleId="{21DCF6FC-CBAC-4C57-874E-255A2AC8927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820" y="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d970b36e01_0_15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d970b36e01_0_15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51d4e90209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51d4e90209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52e4abe9a6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52e4abe9a6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52e4abe9a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52e4abe9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51d4e90209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51d4e9020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56ea82b01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56ea82b01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51d4e90209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51d4e90209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51d4e90209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1d4e9020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d970b36e01_0_15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2d970b36e01_0_15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56e5116bf8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56e5116bf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d970b36e01_0_15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d970b36e01_0_15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56e5116bf8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56e5116bf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datasets/rtatman/188-million-us-wildfires/data"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4236/ijcns.2023.167010"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hyperlink" Target="https://arxiv.org/abs/2405.01607" TargetMode="External"/><Relationship Id="rId4" Type="http://schemas.openxmlformats.org/officeDocument/2006/relationships/hyperlink" Target="https://doi.org/10.3390/f15020321"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omerbolukbasi/wildfire_data_analysis/blob/main/wildfire_data_analysis_omer_bolukbasi.ipynb"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hyperlink" Target="https://github.com/ngwuprince/Australian-wild-fire-data-analysis-and-visualization" TargetMode="External"/><Relationship Id="rId5" Type="http://schemas.openxmlformats.org/officeDocument/2006/relationships/hyperlink" Target="https://github.com/irenezh1016/Project-Wildfire" TargetMode="External"/><Relationship Id="rId4" Type="http://schemas.openxmlformats.org/officeDocument/2006/relationships/hyperlink" Target="https://arxiv.org/abs/2203.1555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492650" y="1208964"/>
            <a:ext cx="6158700" cy="1565100"/>
          </a:xfrm>
          <a:prstGeom prst="rect">
            <a:avLst/>
          </a:prstGeom>
        </p:spPr>
        <p:txBody>
          <a:bodyPr spcFirstLastPara="1" wrap="square" lIns="91425" tIns="91425" rIns="91425" bIns="91425" anchor="b" anchorCtr="0">
            <a:noAutofit/>
          </a:bodyPr>
          <a:lstStyle/>
          <a:p>
            <a:pPr marL="0" lvl="0" indent="0" algn="ctr" rtl="0">
              <a:lnSpc>
                <a:spcPct val="107916"/>
              </a:lnSpc>
              <a:spcBef>
                <a:spcPts val="0"/>
              </a:spcBef>
              <a:spcAft>
                <a:spcPts val="0"/>
              </a:spcAft>
              <a:buClr>
                <a:schemeClr val="dk1"/>
              </a:buClr>
              <a:buSzPts val="1100"/>
              <a:buFont typeface="Arial"/>
              <a:buNone/>
            </a:pPr>
            <a:r>
              <a:rPr lang="en" sz="2700" b="1" dirty="0">
                <a:latin typeface="Times New Roman"/>
                <a:ea typeface="Times New Roman"/>
                <a:cs typeface="Times New Roman"/>
                <a:sym typeface="Times New Roman"/>
              </a:rPr>
              <a:t>CSIT558_01SP25 | FINAL PROJECT: </a:t>
            </a:r>
            <a:endParaRPr sz="2700" b="1" dirty="0">
              <a:latin typeface="Times New Roman"/>
              <a:ea typeface="Times New Roman"/>
              <a:cs typeface="Times New Roman"/>
              <a:sym typeface="Times New Roman"/>
            </a:endParaRPr>
          </a:p>
          <a:p>
            <a:pPr marL="0" lvl="0" indent="0" algn="ctr" rtl="0">
              <a:lnSpc>
                <a:spcPct val="107916"/>
              </a:lnSpc>
              <a:spcBef>
                <a:spcPts val="800"/>
              </a:spcBef>
              <a:spcAft>
                <a:spcPts val="800"/>
              </a:spcAft>
              <a:buClr>
                <a:schemeClr val="dk1"/>
              </a:buClr>
              <a:buSzPts val="1100"/>
              <a:buFont typeface="Arial"/>
              <a:buNone/>
            </a:pPr>
            <a:r>
              <a:rPr lang="en" sz="2700" b="1" dirty="0">
                <a:latin typeface="Roboto"/>
                <a:ea typeface="Roboto"/>
                <a:cs typeface="Roboto"/>
                <a:sym typeface="Roboto"/>
              </a:rPr>
              <a:t>A Comparative Study of Predicting Wildfire Likelihood and Causes Using ML Models </a:t>
            </a:r>
            <a:endParaRPr sz="2700" b="1" dirty="0">
              <a:latin typeface="Roboto"/>
              <a:ea typeface="Roboto"/>
              <a:cs typeface="Roboto"/>
              <a:sym typeface="Roboto"/>
            </a:endParaRPr>
          </a:p>
        </p:txBody>
      </p:sp>
      <p:sp>
        <p:nvSpPr>
          <p:cNvPr id="64" name="Google Shape;64;p13"/>
          <p:cNvSpPr txBox="1">
            <a:spLocks noGrp="1"/>
          </p:cNvSpPr>
          <p:nvPr>
            <p:ph type="subTitle" idx="1"/>
          </p:nvPr>
        </p:nvSpPr>
        <p:spPr>
          <a:xfrm>
            <a:off x="1680300" y="2571825"/>
            <a:ext cx="5783400" cy="1961700"/>
          </a:xfrm>
          <a:prstGeom prst="rect">
            <a:avLst/>
          </a:prstGeom>
        </p:spPr>
        <p:txBody>
          <a:bodyPr spcFirstLastPara="1" wrap="square" lIns="91425" tIns="91425" rIns="91425" bIns="91425" anchor="t" anchorCtr="0">
            <a:noAutofit/>
          </a:bodyPr>
          <a:lstStyle/>
          <a:p>
            <a:pPr marL="0" lvl="0" indent="0" algn="ctr" rtl="0">
              <a:lnSpc>
                <a:spcPct val="107916"/>
              </a:lnSpc>
              <a:spcBef>
                <a:spcPts val="0"/>
              </a:spcBef>
              <a:spcAft>
                <a:spcPts val="0"/>
              </a:spcAft>
              <a:buNone/>
            </a:pPr>
            <a:r>
              <a:rPr lang="en" sz="1200" b="1">
                <a:solidFill>
                  <a:schemeClr val="dk1"/>
                </a:solidFill>
              </a:rPr>
              <a:t>BY</a:t>
            </a:r>
            <a:r>
              <a:rPr lang="en" sz="1200" b="1"/>
              <a:t>  </a:t>
            </a:r>
            <a:endParaRPr sz="1200" b="1"/>
          </a:p>
          <a:p>
            <a:pPr marL="0" lvl="0" indent="0" algn="ctr" rtl="0">
              <a:lnSpc>
                <a:spcPct val="107916"/>
              </a:lnSpc>
              <a:spcBef>
                <a:spcPts val="800"/>
              </a:spcBef>
              <a:spcAft>
                <a:spcPts val="0"/>
              </a:spcAft>
              <a:buClr>
                <a:schemeClr val="dk1"/>
              </a:buClr>
              <a:buSzPts val="1100"/>
              <a:buFont typeface="Arial"/>
              <a:buNone/>
            </a:pPr>
            <a:r>
              <a:rPr lang="en" sz="1200" b="1"/>
              <a:t>Chaudhari, Amishaben Natavarbhai </a:t>
            </a:r>
            <a:r>
              <a:rPr lang="en" sz="1200" b="1">
                <a:solidFill>
                  <a:schemeClr val="dk1"/>
                </a:solidFill>
              </a:rPr>
              <a:t>[CWID:50129394]</a:t>
            </a:r>
            <a:endParaRPr sz="1200" b="1">
              <a:solidFill>
                <a:schemeClr val="dk1"/>
              </a:solidFill>
            </a:endParaRPr>
          </a:p>
          <a:p>
            <a:pPr marL="0" lvl="0" indent="0" algn="ctr" rtl="0">
              <a:lnSpc>
                <a:spcPct val="107916"/>
              </a:lnSpc>
              <a:spcBef>
                <a:spcPts val="800"/>
              </a:spcBef>
              <a:spcAft>
                <a:spcPts val="0"/>
              </a:spcAft>
              <a:buClr>
                <a:schemeClr val="dk1"/>
              </a:buClr>
              <a:buSzPts val="1100"/>
              <a:buFont typeface="Arial"/>
              <a:buNone/>
            </a:pPr>
            <a:r>
              <a:rPr lang="en" sz="1200" b="1"/>
              <a:t>        Javed, Syed Mehrose </a:t>
            </a:r>
            <a:r>
              <a:rPr lang="en" sz="1200" b="1">
                <a:solidFill>
                  <a:schemeClr val="dk1"/>
                </a:solidFill>
              </a:rPr>
              <a:t>[CWID: 50128848]</a:t>
            </a:r>
            <a:endParaRPr sz="1200" b="1">
              <a:solidFill>
                <a:schemeClr val="dk1"/>
              </a:solidFill>
            </a:endParaRPr>
          </a:p>
          <a:p>
            <a:pPr marL="0" lvl="0" indent="0" algn="ctr" rtl="0">
              <a:lnSpc>
                <a:spcPct val="107916"/>
              </a:lnSpc>
              <a:spcBef>
                <a:spcPts val="800"/>
              </a:spcBef>
              <a:spcAft>
                <a:spcPts val="0"/>
              </a:spcAft>
              <a:buClr>
                <a:schemeClr val="dk1"/>
              </a:buClr>
              <a:buSzPts val="1100"/>
              <a:buFont typeface="Arial"/>
              <a:buNone/>
            </a:pPr>
            <a:r>
              <a:rPr lang="en" sz="1200" b="1"/>
              <a:t>        Subhani, Muhammad Kamal </a:t>
            </a:r>
            <a:r>
              <a:rPr lang="en" sz="1200" b="1">
                <a:solidFill>
                  <a:schemeClr val="dk1"/>
                </a:solidFill>
              </a:rPr>
              <a:t>[CWID: 50136417]</a:t>
            </a:r>
            <a:endParaRPr sz="1200" b="1">
              <a:solidFill>
                <a:schemeClr val="dk1"/>
              </a:solidFill>
            </a:endParaRPr>
          </a:p>
          <a:p>
            <a:pPr marL="0" lvl="0" indent="0" algn="ctr" rtl="0">
              <a:lnSpc>
                <a:spcPct val="107916"/>
              </a:lnSpc>
              <a:spcBef>
                <a:spcPts val="800"/>
              </a:spcBef>
              <a:spcAft>
                <a:spcPts val="0"/>
              </a:spcAft>
              <a:buNone/>
            </a:pPr>
            <a:r>
              <a:rPr lang="en" sz="1200" b="1"/>
              <a:t>        Thangavel Sathiyamoorthy, Punithan </a:t>
            </a:r>
            <a:r>
              <a:rPr lang="en" sz="1200" b="1">
                <a:solidFill>
                  <a:schemeClr val="dk1"/>
                </a:solidFill>
              </a:rPr>
              <a:t>[CWID: 50135877]</a:t>
            </a:r>
            <a:endParaRPr sz="1200" b="1">
              <a:solidFill>
                <a:schemeClr val="dk1"/>
              </a:solidFill>
            </a:endParaRPr>
          </a:p>
          <a:p>
            <a:pPr marL="0" lvl="0" indent="0" algn="ctr" rtl="0">
              <a:lnSpc>
                <a:spcPct val="107916"/>
              </a:lnSpc>
              <a:spcBef>
                <a:spcPts val="800"/>
              </a:spcBef>
              <a:spcAft>
                <a:spcPts val="800"/>
              </a:spcAft>
              <a:buNone/>
            </a:pPr>
            <a:r>
              <a:rPr lang="en" sz="1200" b="1"/>
              <a:t>Venkata Appala Manoj Muvvala </a:t>
            </a:r>
            <a:r>
              <a:rPr lang="en" sz="1200" b="1">
                <a:solidFill>
                  <a:schemeClr val="dk1"/>
                </a:solidFill>
              </a:rPr>
              <a:t>[CWID: 50122981 ]</a:t>
            </a:r>
            <a:endParaRPr sz="1200" b="1">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INTRODUCTION</a:t>
            </a:r>
            <a:endParaRPr/>
          </a:p>
        </p:txBody>
      </p:sp>
      <p:sp>
        <p:nvSpPr>
          <p:cNvPr id="70" name="Google Shape;70;p14"/>
          <p:cNvSpPr txBox="1">
            <a:spLocks noGrp="1"/>
          </p:cNvSpPr>
          <p:nvPr>
            <p:ph type="body" idx="1"/>
          </p:nvPr>
        </p:nvSpPr>
        <p:spPr>
          <a:xfrm>
            <a:off x="387900" y="1239650"/>
            <a:ext cx="8368200" cy="3617100"/>
          </a:xfrm>
          <a:prstGeom prst="rect">
            <a:avLst/>
          </a:prstGeom>
        </p:spPr>
        <p:txBody>
          <a:bodyPr spcFirstLastPara="1" wrap="square" lIns="91425" tIns="91425" rIns="91425" bIns="91425" anchor="t" anchorCtr="0">
            <a:noAutofit/>
          </a:bodyPr>
          <a:lstStyle/>
          <a:p>
            <a:pPr marL="0" lvl="0" indent="0" algn="just" rtl="0">
              <a:lnSpc>
                <a:spcPct val="107916"/>
              </a:lnSpc>
              <a:spcBef>
                <a:spcPts val="0"/>
              </a:spcBef>
              <a:spcAft>
                <a:spcPts val="0"/>
              </a:spcAft>
              <a:buNone/>
            </a:pPr>
            <a:r>
              <a:rPr lang="en" sz="1500" b="1" u="sng" dirty="0">
                <a:latin typeface="Times New Roman"/>
                <a:ea typeface="Times New Roman"/>
                <a:cs typeface="Times New Roman"/>
                <a:sym typeface="Times New Roman"/>
              </a:rPr>
              <a:t>Dataset</a:t>
            </a:r>
            <a:r>
              <a:rPr lang="en" sz="1500" b="1" dirty="0">
                <a:latin typeface="Times New Roman"/>
                <a:ea typeface="Times New Roman"/>
                <a:cs typeface="Times New Roman"/>
                <a:sym typeface="Times New Roman"/>
              </a:rPr>
              <a:t>:</a:t>
            </a:r>
            <a:r>
              <a:rPr lang="en" sz="1500" dirty="0">
                <a:latin typeface="Times New Roman"/>
                <a:ea typeface="Times New Roman"/>
                <a:cs typeface="Times New Roman"/>
                <a:sym typeface="Times New Roman"/>
              </a:rPr>
              <a:t> </a:t>
            </a:r>
            <a:endParaRPr sz="1500" dirty="0">
              <a:latin typeface="Times New Roman"/>
              <a:ea typeface="Times New Roman"/>
              <a:cs typeface="Times New Roman"/>
              <a:sym typeface="Times New Roman"/>
            </a:endParaRPr>
          </a:p>
          <a:p>
            <a:pPr marL="0" lvl="0" indent="0" algn="just" rtl="0">
              <a:lnSpc>
                <a:spcPct val="107916"/>
              </a:lnSpc>
              <a:spcBef>
                <a:spcPts val="800"/>
              </a:spcBef>
              <a:spcAft>
                <a:spcPts val="0"/>
              </a:spcAft>
              <a:buNone/>
            </a:pPr>
            <a:r>
              <a:rPr lang="en" sz="1500" dirty="0">
                <a:latin typeface="Times New Roman"/>
                <a:ea typeface="Times New Roman"/>
                <a:cs typeface="Times New Roman"/>
                <a:sym typeface="Times New Roman"/>
                <a:hlinkClick r:id="rId3"/>
              </a:rPr>
              <a:t>Dataset</a:t>
            </a:r>
            <a:r>
              <a:rPr lang="en" sz="1500" dirty="0">
                <a:latin typeface="Times New Roman"/>
                <a:ea typeface="Times New Roman"/>
                <a:cs typeface="Times New Roman"/>
                <a:sym typeface="Times New Roman"/>
              </a:rPr>
              <a:t> on Wildfires occured in United states from Kaggle</a:t>
            </a:r>
            <a:endParaRPr sz="1500" dirty="0">
              <a:latin typeface="Times New Roman"/>
              <a:ea typeface="Times New Roman"/>
              <a:cs typeface="Times New Roman"/>
              <a:sym typeface="Times New Roman"/>
            </a:endParaRPr>
          </a:p>
          <a:p>
            <a:pPr marL="0" lvl="0" indent="0" algn="just" rtl="0">
              <a:lnSpc>
                <a:spcPct val="107916"/>
              </a:lnSpc>
              <a:spcBef>
                <a:spcPts val="800"/>
              </a:spcBef>
              <a:spcAft>
                <a:spcPts val="0"/>
              </a:spcAft>
              <a:buNone/>
            </a:pPr>
            <a:r>
              <a:rPr lang="en" sz="1500" b="1" u="sng" dirty="0">
                <a:latin typeface="Times New Roman"/>
                <a:ea typeface="Times New Roman"/>
                <a:cs typeface="Times New Roman"/>
                <a:sym typeface="Times New Roman"/>
              </a:rPr>
              <a:t>Overview</a:t>
            </a:r>
            <a:r>
              <a:rPr lang="en" sz="1500" b="1" dirty="0">
                <a:latin typeface="Times New Roman"/>
                <a:ea typeface="Times New Roman"/>
                <a:cs typeface="Times New Roman"/>
                <a:sym typeface="Times New Roman"/>
              </a:rPr>
              <a:t>: </a:t>
            </a:r>
            <a:r>
              <a:rPr lang="en" sz="1500" dirty="0">
                <a:latin typeface="Times New Roman"/>
                <a:ea typeface="Times New Roman"/>
                <a:cs typeface="Times New Roman"/>
                <a:sym typeface="Times New Roman"/>
              </a:rPr>
              <a:t>The FPA FOD (Fire Program Analysis Fire-Occurrence Database) is a comprehensive spatial dataset of 1.88 million wildfire incidents across the U.S. from 1992 to 2015, covering 140 million acres. Compiled from federal, state, and local fire reports, it includes details like discovery date, location, fire size, cause, and land ownership. This cleaned and standardized dataset supports wildfire trend analysis, risk assessment, and predictive modeling.</a:t>
            </a:r>
            <a:endParaRPr sz="1500" dirty="0">
              <a:latin typeface="Times New Roman"/>
              <a:ea typeface="Times New Roman"/>
              <a:cs typeface="Times New Roman"/>
              <a:sym typeface="Times New Roman"/>
            </a:endParaRPr>
          </a:p>
          <a:p>
            <a:pPr marL="0" lvl="0" indent="0" algn="just" rtl="0">
              <a:lnSpc>
                <a:spcPct val="107916"/>
              </a:lnSpc>
              <a:spcBef>
                <a:spcPts val="800"/>
              </a:spcBef>
              <a:spcAft>
                <a:spcPts val="0"/>
              </a:spcAft>
              <a:buNone/>
            </a:pPr>
            <a:r>
              <a:rPr lang="en" sz="1500" b="1" u="sng" dirty="0">
                <a:latin typeface="Times New Roman"/>
                <a:ea typeface="Times New Roman"/>
                <a:cs typeface="Times New Roman"/>
                <a:sym typeface="Times New Roman"/>
              </a:rPr>
              <a:t>Potential Applications</a:t>
            </a:r>
            <a:r>
              <a:rPr lang="en" sz="1500" b="1" dirty="0">
                <a:latin typeface="Times New Roman"/>
                <a:ea typeface="Times New Roman"/>
                <a:cs typeface="Times New Roman"/>
                <a:sym typeface="Times New Roman"/>
              </a:rPr>
              <a:t>: </a:t>
            </a:r>
            <a:r>
              <a:rPr lang="en" sz="1500" dirty="0">
                <a:latin typeface="Times New Roman"/>
                <a:ea typeface="Times New Roman"/>
                <a:cs typeface="Times New Roman"/>
                <a:sym typeface="Times New Roman"/>
              </a:rPr>
              <a:t>Wildfire prediction benefits greatly from machine learning techniques, enabling proactive risk assessment and resource allocation. Models like Random Forest and XGBoost can accurately classify wildfire causes and identify high-risk regions. Together, these tools enhance early warning systems, optimize emergency response, and support data-driven wildfire management strategies.</a:t>
            </a:r>
            <a:endParaRPr sz="1500" dirty="0">
              <a:latin typeface="Times New Roman"/>
              <a:ea typeface="Times New Roman"/>
              <a:cs typeface="Times New Roman"/>
              <a:sym typeface="Times New Roman"/>
            </a:endParaRPr>
          </a:p>
          <a:p>
            <a:pPr marL="0" lvl="0" indent="0" algn="just" rtl="0">
              <a:lnSpc>
                <a:spcPct val="107916"/>
              </a:lnSpc>
              <a:spcBef>
                <a:spcPts val="800"/>
              </a:spcBef>
              <a:spcAft>
                <a:spcPts val="0"/>
              </a:spcAft>
              <a:buNone/>
            </a:pPr>
            <a:endParaRPr sz="1500" dirty="0">
              <a:latin typeface="Times New Roman"/>
              <a:ea typeface="Times New Roman"/>
              <a:cs typeface="Times New Roman"/>
              <a:sym typeface="Times New Roman"/>
            </a:endParaRPr>
          </a:p>
          <a:p>
            <a:pPr marL="0" lvl="0" indent="0" algn="just" rtl="0">
              <a:lnSpc>
                <a:spcPct val="107916"/>
              </a:lnSpc>
              <a:spcBef>
                <a:spcPts val="800"/>
              </a:spcBef>
              <a:spcAft>
                <a:spcPts val="800"/>
              </a:spcAft>
              <a:buNone/>
            </a:pPr>
            <a:endParaRPr sz="1500" b="1" dirty="0">
              <a:latin typeface="Times New Roman"/>
              <a:ea typeface="Times New Roman"/>
              <a:cs typeface="Times New Roman"/>
              <a:sym typeface="Times New Roman"/>
            </a:endParaRPr>
          </a:p>
        </p:txBody>
      </p:sp>
      <p:pic>
        <p:nvPicPr>
          <p:cNvPr id="71" name="Google Shape;71;p14"/>
          <p:cNvPicPr preferRelativeResize="0"/>
          <p:nvPr/>
        </p:nvPicPr>
        <p:blipFill>
          <a:blip r:embed="rId4">
            <a:alphaModFix/>
          </a:blip>
          <a:stretch>
            <a:fillRect/>
          </a:stretch>
        </p:blipFill>
        <p:spPr>
          <a:xfrm>
            <a:off x="5584450" y="458025"/>
            <a:ext cx="3053226" cy="1370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RELATED WORK</a:t>
            </a:r>
            <a:endParaRPr/>
          </a:p>
        </p:txBody>
      </p:sp>
      <p:sp>
        <p:nvSpPr>
          <p:cNvPr id="77" name="Google Shape;77;p15"/>
          <p:cNvSpPr txBox="1">
            <a:spLocks noGrp="1"/>
          </p:cNvSpPr>
          <p:nvPr>
            <p:ph type="body" idx="1"/>
          </p:nvPr>
        </p:nvSpPr>
        <p:spPr>
          <a:xfrm>
            <a:off x="387900" y="1258800"/>
            <a:ext cx="8094300" cy="3302100"/>
          </a:xfrm>
          <a:prstGeom prst="rect">
            <a:avLst/>
          </a:prstGeom>
        </p:spPr>
        <p:txBody>
          <a:bodyPr spcFirstLastPara="1" wrap="square" lIns="91425" tIns="91425" rIns="91425" bIns="91425" anchor="t" anchorCtr="0">
            <a:noAutofit/>
          </a:bodyPr>
          <a:lstStyle/>
          <a:p>
            <a:pPr marL="457200" lvl="0" indent="-323850" algn="just" rtl="0">
              <a:lnSpc>
                <a:spcPct val="107916"/>
              </a:lnSpc>
              <a:spcBef>
                <a:spcPts val="0"/>
              </a:spcBef>
              <a:spcAft>
                <a:spcPts val="0"/>
              </a:spcAft>
              <a:buSzPts val="1500"/>
              <a:buFont typeface="Times New Roman"/>
              <a:buChar char="●"/>
            </a:pPr>
            <a:r>
              <a:rPr lang="en" sz="1500">
                <a:latin typeface="Times New Roman"/>
                <a:ea typeface="Times New Roman"/>
                <a:cs typeface="Times New Roman"/>
                <a:sym typeface="Times New Roman"/>
              </a:rPr>
              <a:t>Wildfire prediction has been an active area of research in recent years, with a focus on utilizing machine learning algorithms for more accurate forecasting. </a:t>
            </a:r>
            <a:endParaRPr sz="1500">
              <a:latin typeface="Times New Roman"/>
              <a:ea typeface="Times New Roman"/>
              <a:cs typeface="Times New Roman"/>
              <a:sym typeface="Times New Roman"/>
            </a:endParaRPr>
          </a:p>
          <a:p>
            <a:pPr marL="457200" lvl="0" indent="0" algn="just" rtl="0">
              <a:lnSpc>
                <a:spcPct val="107916"/>
              </a:lnSpc>
              <a:spcBef>
                <a:spcPts val="800"/>
              </a:spcBef>
              <a:spcAft>
                <a:spcPts val="0"/>
              </a:spcAft>
              <a:buNone/>
            </a:pPr>
            <a:endParaRPr sz="100">
              <a:latin typeface="Times New Roman"/>
              <a:ea typeface="Times New Roman"/>
              <a:cs typeface="Times New Roman"/>
              <a:sym typeface="Times New Roman"/>
            </a:endParaRPr>
          </a:p>
          <a:p>
            <a:pPr marL="457200" lvl="0" indent="-323850" algn="just" rtl="0">
              <a:lnSpc>
                <a:spcPct val="107916"/>
              </a:lnSpc>
              <a:spcBef>
                <a:spcPts val="800"/>
              </a:spcBef>
              <a:spcAft>
                <a:spcPts val="0"/>
              </a:spcAft>
              <a:buSzPts val="1500"/>
              <a:buFont typeface="Times New Roman"/>
              <a:buChar char="●"/>
            </a:pPr>
            <a:r>
              <a:rPr lang="en" sz="1500">
                <a:latin typeface="Times New Roman"/>
                <a:ea typeface="Times New Roman"/>
                <a:cs typeface="Times New Roman"/>
                <a:sym typeface="Times New Roman"/>
              </a:rPr>
              <a:t>One study [1] investigates wildfire susceptibility in Portugal using Random Forest and logistic regression to analyze both environmental and human-related variables. </a:t>
            </a:r>
            <a:endParaRPr sz="1500">
              <a:latin typeface="Times New Roman"/>
              <a:ea typeface="Times New Roman"/>
              <a:cs typeface="Times New Roman"/>
              <a:sym typeface="Times New Roman"/>
            </a:endParaRPr>
          </a:p>
          <a:p>
            <a:pPr marL="457200" lvl="0" indent="0" algn="just" rtl="0">
              <a:lnSpc>
                <a:spcPct val="107916"/>
              </a:lnSpc>
              <a:spcBef>
                <a:spcPts val="800"/>
              </a:spcBef>
              <a:spcAft>
                <a:spcPts val="0"/>
              </a:spcAft>
              <a:buNone/>
            </a:pPr>
            <a:endParaRPr sz="100">
              <a:latin typeface="Times New Roman"/>
              <a:ea typeface="Times New Roman"/>
              <a:cs typeface="Times New Roman"/>
              <a:sym typeface="Times New Roman"/>
            </a:endParaRPr>
          </a:p>
          <a:p>
            <a:pPr marL="457200" lvl="0" indent="-323850" algn="just" rtl="0">
              <a:lnSpc>
                <a:spcPct val="107916"/>
              </a:lnSpc>
              <a:spcBef>
                <a:spcPts val="800"/>
              </a:spcBef>
              <a:spcAft>
                <a:spcPts val="0"/>
              </a:spcAft>
              <a:buSzPts val="1500"/>
              <a:buFont typeface="Times New Roman"/>
              <a:buChar char="●"/>
            </a:pPr>
            <a:r>
              <a:rPr lang="en" sz="1500">
                <a:latin typeface="Times New Roman"/>
                <a:ea typeface="Times New Roman"/>
                <a:cs typeface="Times New Roman"/>
                <a:sym typeface="Times New Roman"/>
              </a:rPr>
              <a:t>Other work [2] provides a comprehensive overview of machine learning models applied to forest fire prediction and detection in which the authors examine various algorithms and Deep Learning methods. The study highlights challenges such as data scarcity, imbalanced datasets, and real-time deployment limitations. </a:t>
            </a:r>
            <a:endParaRPr sz="1500">
              <a:latin typeface="Times New Roman"/>
              <a:ea typeface="Times New Roman"/>
              <a:cs typeface="Times New Roman"/>
              <a:sym typeface="Times New Roman"/>
            </a:endParaRPr>
          </a:p>
          <a:p>
            <a:pPr marL="457200" lvl="0" indent="0" algn="just" rtl="0">
              <a:lnSpc>
                <a:spcPct val="107916"/>
              </a:lnSpc>
              <a:spcBef>
                <a:spcPts val="800"/>
              </a:spcBef>
              <a:spcAft>
                <a:spcPts val="0"/>
              </a:spcAft>
              <a:buNone/>
            </a:pPr>
            <a:endParaRPr sz="100">
              <a:latin typeface="Times New Roman"/>
              <a:ea typeface="Times New Roman"/>
              <a:cs typeface="Times New Roman"/>
              <a:sym typeface="Times New Roman"/>
            </a:endParaRPr>
          </a:p>
          <a:p>
            <a:pPr marL="457200" lvl="0" indent="-323850" algn="just" rtl="0">
              <a:lnSpc>
                <a:spcPct val="107916"/>
              </a:lnSpc>
              <a:spcBef>
                <a:spcPts val="800"/>
              </a:spcBef>
              <a:spcAft>
                <a:spcPts val="0"/>
              </a:spcAft>
              <a:buSzPts val="1500"/>
              <a:buFont typeface="Times New Roman"/>
              <a:buChar char="●"/>
            </a:pPr>
            <a:r>
              <a:rPr lang="en" sz="1500">
                <a:latin typeface="Times New Roman"/>
                <a:ea typeface="Times New Roman"/>
                <a:cs typeface="Times New Roman"/>
                <a:sym typeface="Times New Roman"/>
              </a:rPr>
              <a:t>Another research [3] highlighted the strong performance of XGBoost in terms of both classification accuracy and area prediction, showcasing its suitability for real-world wildfire forecasting tasks. </a:t>
            </a:r>
            <a:endParaRPr sz="1500">
              <a:latin typeface="Times New Roman"/>
              <a:ea typeface="Times New Roman"/>
              <a:cs typeface="Times New Roman"/>
              <a:sym typeface="Times New Roman"/>
            </a:endParaRPr>
          </a:p>
          <a:p>
            <a:pPr marL="0" lvl="0" indent="0" algn="just" rtl="0">
              <a:lnSpc>
                <a:spcPct val="107916"/>
              </a:lnSpc>
              <a:spcBef>
                <a:spcPts val="800"/>
              </a:spcBef>
              <a:spcAft>
                <a:spcPts val="800"/>
              </a:spcAft>
              <a:buNone/>
            </a:pPr>
            <a:endParaRPr sz="15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DATA OVERVIEW/ANALYSIS</a:t>
            </a:r>
            <a:endParaRPr/>
          </a:p>
        </p:txBody>
      </p:sp>
      <p:sp>
        <p:nvSpPr>
          <p:cNvPr id="83" name="Google Shape;83;p16"/>
          <p:cNvSpPr txBox="1"/>
          <p:nvPr/>
        </p:nvSpPr>
        <p:spPr>
          <a:xfrm>
            <a:off x="484825" y="3944725"/>
            <a:ext cx="8066400" cy="10038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The map shows the states affected by the number of fires</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Helps in visualizing US states which had the most wildfires</a:t>
            </a: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E.g. California, Texas and Georgia</a:t>
            </a:r>
            <a:endParaRPr sz="1500">
              <a:solidFill>
                <a:schemeClr val="dk1"/>
              </a:solidFill>
              <a:latin typeface="Times New Roman"/>
              <a:ea typeface="Times New Roman"/>
              <a:cs typeface="Times New Roman"/>
              <a:sym typeface="Times New Roman"/>
            </a:endParaRPr>
          </a:p>
        </p:txBody>
      </p:sp>
      <p:pic>
        <p:nvPicPr>
          <p:cNvPr id="84" name="Google Shape;84;p16"/>
          <p:cNvPicPr preferRelativeResize="0"/>
          <p:nvPr/>
        </p:nvPicPr>
        <p:blipFill>
          <a:blip r:embed="rId3">
            <a:alphaModFix/>
          </a:blip>
          <a:stretch>
            <a:fillRect/>
          </a:stretch>
        </p:blipFill>
        <p:spPr>
          <a:xfrm>
            <a:off x="1882564" y="1216500"/>
            <a:ext cx="5378877" cy="25580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DATA OVERVIEW/ANALYSIS</a:t>
            </a:r>
            <a:endParaRPr/>
          </a:p>
        </p:txBody>
      </p:sp>
      <p:pic>
        <p:nvPicPr>
          <p:cNvPr id="90" name="Google Shape;90;p17"/>
          <p:cNvPicPr preferRelativeResize="0"/>
          <p:nvPr/>
        </p:nvPicPr>
        <p:blipFill>
          <a:blip r:embed="rId3">
            <a:alphaModFix/>
          </a:blip>
          <a:stretch>
            <a:fillRect/>
          </a:stretch>
        </p:blipFill>
        <p:spPr>
          <a:xfrm>
            <a:off x="4847100" y="1144125"/>
            <a:ext cx="3908993" cy="3694575"/>
          </a:xfrm>
          <a:prstGeom prst="rect">
            <a:avLst/>
          </a:prstGeom>
          <a:noFill/>
          <a:ln>
            <a:noFill/>
          </a:ln>
        </p:spPr>
      </p:pic>
      <p:sp>
        <p:nvSpPr>
          <p:cNvPr id="91" name="Google Shape;91;p17"/>
          <p:cNvSpPr txBox="1"/>
          <p:nvPr/>
        </p:nvSpPr>
        <p:spPr>
          <a:xfrm>
            <a:off x="331150" y="1566525"/>
            <a:ext cx="4297800" cy="28653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The bar plot shows the wild fire causes reported in the dataset and the number of fires </a:t>
            </a:r>
            <a:endParaRPr sz="15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Debris burning, Arson , Lightning are the major causes of fires</a:t>
            </a:r>
            <a:endParaRPr sz="1500">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sz="1500">
              <a:solidFill>
                <a:schemeClr val="dk1"/>
              </a:solidFill>
              <a:latin typeface="Times New Roman"/>
              <a:ea typeface="Times New Roman"/>
              <a:cs typeface="Times New Roman"/>
              <a:sym typeface="Times New Roman"/>
            </a:endParaRPr>
          </a:p>
          <a:p>
            <a:pPr marL="457200" lvl="0" indent="-323850" algn="l" rtl="0">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This can be combined with the region wise map for further analysis</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APPROACH &amp; IMPLEMENTATION</a:t>
            </a:r>
            <a:endParaRPr/>
          </a:p>
        </p:txBody>
      </p:sp>
      <p:sp>
        <p:nvSpPr>
          <p:cNvPr id="97" name="Google Shape;97;p18"/>
          <p:cNvSpPr txBox="1"/>
          <p:nvPr/>
        </p:nvSpPr>
        <p:spPr>
          <a:xfrm>
            <a:off x="387900" y="1223650"/>
            <a:ext cx="8368200" cy="3478200"/>
          </a:xfrm>
          <a:prstGeom prst="rect">
            <a:avLst/>
          </a:prstGeom>
          <a:noFill/>
          <a:ln>
            <a:noFill/>
          </a:ln>
        </p:spPr>
        <p:txBody>
          <a:bodyPr spcFirstLastPara="1" wrap="square" lIns="91425" tIns="91425" rIns="91425" bIns="91425" anchor="t" anchorCtr="0">
            <a:noAutofit/>
          </a:bodyPr>
          <a:lstStyle/>
          <a:p>
            <a:pPr marL="0" lvl="0" indent="0" algn="just" rtl="0">
              <a:lnSpc>
                <a:spcPct val="107916"/>
              </a:lnSpc>
              <a:spcBef>
                <a:spcPts val="0"/>
              </a:spcBef>
              <a:spcAft>
                <a:spcPts val="0"/>
              </a:spcAft>
              <a:buNone/>
            </a:pPr>
            <a:r>
              <a:rPr lang="en" sz="1500" b="1" u="sng">
                <a:solidFill>
                  <a:schemeClr val="dk1"/>
                </a:solidFill>
                <a:latin typeface="Times New Roman"/>
                <a:ea typeface="Times New Roman"/>
                <a:cs typeface="Times New Roman"/>
                <a:sym typeface="Times New Roman"/>
              </a:rPr>
              <a:t>Data Mining Technique:</a:t>
            </a:r>
            <a:endParaRPr sz="1500" b="1" u="sng">
              <a:solidFill>
                <a:schemeClr val="dk1"/>
              </a:solidFill>
              <a:latin typeface="Times New Roman"/>
              <a:ea typeface="Times New Roman"/>
              <a:cs typeface="Times New Roman"/>
              <a:sym typeface="Times New Roman"/>
            </a:endParaRPr>
          </a:p>
          <a:p>
            <a:pPr marL="0" lvl="0" indent="0" algn="just" rtl="0">
              <a:lnSpc>
                <a:spcPct val="107916"/>
              </a:lnSpc>
              <a:spcBef>
                <a:spcPts val="800"/>
              </a:spcBef>
              <a:spcAft>
                <a:spcPts val="0"/>
              </a:spcAft>
              <a:buNone/>
            </a:pPr>
            <a:r>
              <a:rPr lang="en" sz="1500">
                <a:solidFill>
                  <a:schemeClr val="dk1"/>
                </a:solidFill>
                <a:latin typeface="Times New Roman"/>
                <a:ea typeface="Times New Roman"/>
                <a:cs typeface="Times New Roman"/>
                <a:sym typeface="Times New Roman"/>
              </a:rPr>
              <a:t>Predictive Data Mining - As we are predicting the likelihood and causes of wildfires.</a:t>
            </a:r>
            <a:endParaRPr sz="1500">
              <a:solidFill>
                <a:schemeClr val="dk1"/>
              </a:solidFill>
              <a:latin typeface="Times New Roman"/>
              <a:ea typeface="Times New Roman"/>
              <a:cs typeface="Times New Roman"/>
              <a:sym typeface="Times New Roman"/>
            </a:endParaRPr>
          </a:p>
          <a:p>
            <a:pPr marL="0" lvl="0" indent="0" algn="just" rtl="0">
              <a:lnSpc>
                <a:spcPct val="107916"/>
              </a:lnSpc>
              <a:spcBef>
                <a:spcPts val="800"/>
              </a:spcBef>
              <a:spcAft>
                <a:spcPts val="0"/>
              </a:spcAft>
              <a:buNone/>
            </a:pPr>
            <a:r>
              <a:rPr lang="en" sz="1500" b="1" u="sng">
                <a:solidFill>
                  <a:schemeClr val="dk1"/>
                </a:solidFill>
                <a:latin typeface="Times New Roman"/>
                <a:ea typeface="Times New Roman"/>
                <a:cs typeface="Times New Roman"/>
                <a:sym typeface="Times New Roman"/>
              </a:rPr>
              <a:t>Data Preprocessing:</a:t>
            </a:r>
            <a:endParaRPr sz="1500" b="1" u="sng">
              <a:solidFill>
                <a:schemeClr val="dk1"/>
              </a:solidFill>
              <a:latin typeface="Times New Roman"/>
              <a:ea typeface="Times New Roman"/>
              <a:cs typeface="Times New Roman"/>
              <a:sym typeface="Times New Roman"/>
            </a:endParaRPr>
          </a:p>
          <a:p>
            <a:pPr marL="457200" lvl="0" indent="-323850" algn="just" rtl="0">
              <a:lnSpc>
                <a:spcPct val="107916"/>
              </a:lnSpc>
              <a:spcBef>
                <a:spcPts val="80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Data cleaning e.g, Extra spaces removal, missing values handling, duplicates removal</a:t>
            </a:r>
            <a:endParaRPr sz="1500">
              <a:solidFill>
                <a:schemeClr val="dk1"/>
              </a:solidFill>
              <a:latin typeface="Times New Roman"/>
              <a:ea typeface="Times New Roman"/>
              <a:cs typeface="Times New Roman"/>
              <a:sym typeface="Times New Roman"/>
            </a:endParaRPr>
          </a:p>
          <a:p>
            <a:pPr marL="457200" lvl="0"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Text normalization, date format standardization</a:t>
            </a:r>
            <a:endParaRPr sz="1500">
              <a:solidFill>
                <a:schemeClr val="dk1"/>
              </a:solidFill>
              <a:latin typeface="Times New Roman"/>
              <a:ea typeface="Times New Roman"/>
              <a:cs typeface="Times New Roman"/>
              <a:sym typeface="Times New Roman"/>
            </a:endParaRPr>
          </a:p>
          <a:p>
            <a:pPr marL="457200" lvl="0"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Categorical to numerical conversion, One-hot encoding</a:t>
            </a:r>
            <a:endParaRPr sz="1500">
              <a:solidFill>
                <a:schemeClr val="dk1"/>
              </a:solidFill>
              <a:latin typeface="Times New Roman"/>
              <a:ea typeface="Times New Roman"/>
              <a:cs typeface="Times New Roman"/>
              <a:sym typeface="Times New Roman"/>
            </a:endParaRPr>
          </a:p>
          <a:p>
            <a:pPr marL="457200" lvl="0"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Feature engineering e.g, Prev month fire count, duration of fire</a:t>
            </a:r>
            <a:endParaRPr sz="1500">
              <a:solidFill>
                <a:schemeClr val="dk1"/>
              </a:solidFill>
              <a:latin typeface="Times New Roman"/>
              <a:ea typeface="Times New Roman"/>
              <a:cs typeface="Times New Roman"/>
              <a:sym typeface="Times New Roman"/>
            </a:endParaRPr>
          </a:p>
          <a:p>
            <a:pPr marL="0" lvl="0" indent="0" algn="just" rtl="0">
              <a:lnSpc>
                <a:spcPct val="107916"/>
              </a:lnSpc>
              <a:spcBef>
                <a:spcPts val="800"/>
              </a:spcBef>
              <a:spcAft>
                <a:spcPts val="0"/>
              </a:spcAft>
              <a:buNone/>
            </a:pPr>
            <a:r>
              <a:rPr lang="en" sz="1500" b="1" u="sng">
                <a:solidFill>
                  <a:schemeClr val="dk1"/>
                </a:solidFill>
                <a:latin typeface="Times New Roman"/>
                <a:ea typeface="Times New Roman"/>
                <a:cs typeface="Times New Roman"/>
                <a:sym typeface="Times New Roman"/>
              </a:rPr>
              <a:t>Models/Methods Tried:</a:t>
            </a:r>
            <a:endParaRPr sz="1500" b="1" u="sng">
              <a:solidFill>
                <a:schemeClr val="dk1"/>
              </a:solidFill>
              <a:latin typeface="Times New Roman"/>
              <a:ea typeface="Times New Roman"/>
              <a:cs typeface="Times New Roman"/>
              <a:sym typeface="Times New Roman"/>
            </a:endParaRPr>
          </a:p>
          <a:p>
            <a:pPr marL="457200" lvl="0" indent="-323850" algn="just" rtl="0">
              <a:lnSpc>
                <a:spcPct val="107916"/>
              </a:lnSpc>
              <a:spcBef>
                <a:spcPts val="80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Facebook Prophet (Forecasting time series data)</a:t>
            </a:r>
            <a:endParaRPr sz="1500">
              <a:solidFill>
                <a:schemeClr val="dk1"/>
              </a:solidFill>
              <a:latin typeface="Times New Roman"/>
              <a:ea typeface="Times New Roman"/>
              <a:cs typeface="Times New Roman"/>
              <a:sym typeface="Times New Roman"/>
            </a:endParaRPr>
          </a:p>
          <a:p>
            <a:pPr marL="457200" lvl="0"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XGBoost (Regression &amp; Classification)</a:t>
            </a:r>
            <a:endParaRPr sz="1500">
              <a:solidFill>
                <a:schemeClr val="dk1"/>
              </a:solidFill>
              <a:latin typeface="Times New Roman"/>
              <a:ea typeface="Times New Roman"/>
              <a:cs typeface="Times New Roman"/>
              <a:sym typeface="Times New Roman"/>
            </a:endParaRPr>
          </a:p>
          <a:p>
            <a:pPr marL="457200" lvl="0"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Random Forest (Prediction - Multiple decision trees)</a:t>
            </a:r>
            <a:endParaRPr sz="1500">
              <a:solidFill>
                <a:schemeClr val="dk1"/>
              </a:solidFill>
              <a:latin typeface="Times New Roman"/>
              <a:ea typeface="Times New Roman"/>
              <a:cs typeface="Times New Roman"/>
              <a:sym typeface="Times New Roman"/>
            </a:endParaRPr>
          </a:p>
          <a:p>
            <a:pPr marL="457200" lvl="0"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Other classifiers (DecisionTreeClassifier, KNN, Logistic Regression, Linear SVC, SGD Classifier)</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APPROACH &amp; IMPLEMENTATION</a:t>
            </a:r>
            <a:endParaRPr/>
          </a:p>
        </p:txBody>
      </p:sp>
      <p:sp>
        <p:nvSpPr>
          <p:cNvPr id="103" name="Google Shape;103;p19"/>
          <p:cNvSpPr txBox="1"/>
          <p:nvPr/>
        </p:nvSpPr>
        <p:spPr>
          <a:xfrm>
            <a:off x="387900" y="1378650"/>
            <a:ext cx="8368200" cy="3299700"/>
          </a:xfrm>
          <a:prstGeom prst="rect">
            <a:avLst/>
          </a:prstGeom>
          <a:noFill/>
          <a:ln>
            <a:noFill/>
          </a:ln>
        </p:spPr>
        <p:txBody>
          <a:bodyPr spcFirstLastPara="1" wrap="square" lIns="91425" tIns="91425" rIns="91425" bIns="91425" anchor="t" anchorCtr="0">
            <a:noAutofit/>
          </a:bodyPr>
          <a:lstStyle/>
          <a:p>
            <a:pPr marL="0" lvl="0" indent="0" algn="just" rtl="0">
              <a:lnSpc>
                <a:spcPct val="107916"/>
              </a:lnSpc>
              <a:spcBef>
                <a:spcPts val="0"/>
              </a:spcBef>
              <a:spcAft>
                <a:spcPts val="0"/>
              </a:spcAft>
              <a:buNone/>
            </a:pPr>
            <a:r>
              <a:rPr lang="en" sz="1500" b="1" u="sng">
                <a:solidFill>
                  <a:schemeClr val="dk1"/>
                </a:solidFill>
                <a:latin typeface="Times New Roman"/>
                <a:ea typeface="Times New Roman"/>
                <a:cs typeface="Times New Roman"/>
                <a:sym typeface="Times New Roman"/>
              </a:rPr>
              <a:t>Model Selection:</a:t>
            </a:r>
            <a:endParaRPr sz="1500" b="1" u="sng">
              <a:solidFill>
                <a:schemeClr val="dk1"/>
              </a:solidFill>
              <a:latin typeface="Times New Roman"/>
              <a:ea typeface="Times New Roman"/>
              <a:cs typeface="Times New Roman"/>
              <a:sym typeface="Times New Roman"/>
            </a:endParaRPr>
          </a:p>
          <a:p>
            <a:pPr marL="457200" lvl="0" indent="-323850" algn="just" rtl="0">
              <a:lnSpc>
                <a:spcPct val="107916"/>
              </a:lnSpc>
              <a:spcBef>
                <a:spcPts val="80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XGBoost - Wildfire likelihood prediction</a:t>
            </a:r>
            <a:endParaRPr sz="1500">
              <a:solidFill>
                <a:schemeClr val="dk1"/>
              </a:solidFill>
              <a:latin typeface="Times New Roman"/>
              <a:ea typeface="Times New Roman"/>
              <a:cs typeface="Times New Roman"/>
              <a:sym typeface="Times New Roman"/>
            </a:endParaRPr>
          </a:p>
          <a:p>
            <a:pPr marL="914400" lvl="1"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Feature scaling, hyper parameter tuning</a:t>
            </a:r>
            <a:endParaRPr sz="1500">
              <a:solidFill>
                <a:schemeClr val="dk1"/>
              </a:solidFill>
              <a:latin typeface="Times New Roman"/>
              <a:ea typeface="Times New Roman"/>
              <a:cs typeface="Times New Roman"/>
              <a:sym typeface="Times New Roman"/>
            </a:endParaRPr>
          </a:p>
          <a:p>
            <a:pPr marL="914400" lvl="1"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0.48 R²</a:t>
            </a:r>
            <a:endParaRPr sz="1500">
              <a:solidFill>
                <a:schemeClr val="dk1"/>
              </a:solidFill>
              <a:latin typeface="Times New Roman"/>
              <a:ea typeface="Times New Roman"/>
              <a:cs typeface="Times New Roman"/>
              <a:sym typeface="Times New Roman"/>
            </a:endParaRPr>
          </a:p>
          <a:p>
            <a:pPr marL="457200" marR="0" lvl="0"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Random Forest - Wildfire causes prediction</a:t>
            </a:r>
            <a:endParaRPr sz="1500">
              <a:solidFill>
                <a:schemeClr val="dk1"/>
              </a:solidFill>
              <a:latin typeface="Times New Roman"/>
              <a:ea typeface="Times New Roman"/>
              <a:cs typeface="Times New Roman"/>
              <a:sym typeface="Times New Roman"/>
            </a:endParaRPr>
          </a:p>
          <a:p>
            <a:pPr marL="914400" marR="0" lvl="1"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SMOTE (Synthetic Minority Over-sampling Technique)</a:t>
            </a:r>
            <a:endParaRPr sz="1500">
              <a:solidFill>
                <a:schemeClr val="dk1"/>
              </a:solidFill>
              <a:latin typeface="Times New Roman"/>
              <a:ea typeface="Times New Roman"/>
              <a:cs typeface="Times New Roman"/>
              <a:sym typeface="Times New Roman"/>
            </a:endParaRPr>
          </a:p>
          <a:p>
            <a:pPr marL="1371600" marR="0" lvl="2"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Balances data for underrepresented classes</a:t>
            </a:r>
            <a:endParaRPr sz="1500">
              <a:solidFill>
                <a:schemeClr val="dk1"/>
              </a:solidFill>
              <a:latin typeface="Times New Roman"/>
              <a:ea typeface="Times New Roman"/>
              <a:cs typeface="Times New Roman"/>
              <a:sym typeface="Times New Roman"/>
            </a:endParaRPr>
          </a:p>
          <a:p>
            <a:pPr marL="914400" marR="0" lvl="1"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62% accuracy (before tuning); 83% accuracy (after tuning)</a:t>
            </a:r>
            <a:endParaRPr sz="1500">
              <a:solidFill>
                <a:schemeClr val="dk1"/>
              </a:solidFill>
              <a:latin typeface="Times New Roman"/>
              <a:ea typeface="Times New Roman"/>
              <a:cs typeface="Times New Roman"/>
              <a:sym typeface="Times New Roman"/>
            </a:endParaRPr>
          </a:p>
          <a:p>
            <a:pPr marL="0" lvl="0" indent="0" algn="just" rtl="0">
              <a:lnSpc>
                <a:spcPct val="107916"/>
              </a:lnSpc>
              <a:spcBef>
                <a:spcPts val="800"/>
              </a:spcBef>
              <a:spcAft>
                <a:spcPts val="0"/>
              </a:spcAft>
              <a:buNone/>
            </a:pPr>
            <a:r>
              <a:rPr lang="en" sz="1500" b="1" u="sng">
                <a:solidFill>
                  <a:schemeClr val="dk1"/>
                </a:solidFill>
                <a:latin typeface="Times New Roman"/>
                <a:ea typeface="Times New Roman"/>
                <a:cs typeface="Times New Roman"/>
                <a:sym typeface="Times New Roman"/>
              </a:rPr>
              <a:t>Evaluation Metrics:</a:t>
            </a:r>
            <a:endParaRPr sz="1500" b="1" u="sng">
              <a:solidFill>
                <a:schemeClr val="dk1"/>
              </a:solidFill>
              <a:latin typeface="Times New Roman"/>
              <a:ea typeface="Times New Roman"/>
              <a:cs typeface="Times New Roman"/>
              <a:sym typeface="Times New Roman"/>
            </a:endParaRPr>
          </a:p>
          <a:p>
            <a:pPr marL="457200" marR="0" lvl="0" indent="-323850" algn="just" rtl="0">
              <a:lnSpc>
                <a:spcPct val="107916"/>
              </a:lnSpc>
              <a:spcBef>
                <a:spcPts val="80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Mean Absolute Error (MAE)</a:t>
            </a:r>
            <a:endParaRPr sz="1500">
              <a:solidFill>
                <a:schemeClr val="dk1"/>
              </a:solidFill>
              <a:latin typeface="Times New Roman"/>
              <a:ea typeface="Times New Roman"/>
              <a:cs typeface="Times New Roman"/>
              <a:sym typeface="Times New Roman"/>
            </a:endParaRPr>
          </a:p>
          <a:p>
            <a:pPr marL="457200" marR="0" lvl="0"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Mean Squared Error (MSE)</a:t>
            </a:r>
            <a:endParaRPr sz="1500">
              <a:solidFill>
                <a:schemeClr val="dk1"/>
              </a:solidFill>
              <a:latin typeface="Times New Roman"/>
              <a:ea typeface="Times New Roman"/>
              <a:cs typeface="Times New Roman"/>
              <a:sym typeface="Times New Roman"/>
            </a:endParaRPr>
          </a:p>
          <a:p>
            <a:pPr marL="457200" marR="0" lvl="0"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R-squared (R²)</a:t>
            </a:r>
            <a:endParaRPr sz="1500">
              <a:solidFill>
                <a:schemeClr val="dk1"/>
              </a:solidFill>
              <a:latin typeface="Times New Roman"/>
              <a:ea typeface="Times New Roman"/>
              <a:cs typeface="Times New Roman"/>
              <a:sym typeface="Times New Roman"/>
            </a:endParaRPr>
          </a:p>
          <a:p>
            <a:pPr marL="457200" marR="0" lvl="0"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F1 score (Precision &amp; Recall)</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APPROACH &amp; IMPLEMENTATION</a:t>
            </a:r>
            <a:endParaRPr/>
          </a:p>
        </p:txBody>
      </p:sp>
      <p:sp>
        <p:nvSpPr>
          <p:cNvPr id="109" name="Google Shape;109;p20"/>
          <p:cNvSpPr txBox="1"/>
          <p:nvPr/>
        </p:nvSpPr>
        <p:spPr>
          <a:xfrm>
            <a:off x="387900" y="1378650"/>
            <a:ext cx="8368200" cy="3299700"/>
          </a:xfrm>
          <a:prstGeom prst="rect">
            <a:avLst/>
          </a:prstGeom>
          <a:noFill/>
          <a:ln>
            <a:noFill/>
          </a:ln>
        </p:spPr>
        <p:txBody>
          <a:bodyPr spcFirstLastPara="1" wrap="square" lIns="91425" tIns="91425" rIns="91425" bIns="91425" anchor="t" anchorCtr="0">
            <a:noAutofit/>
          </a:bodyPr>
          <a:lstStyle/>
          <a:p>
            <a:pPr marL="0" lvl="0" indent="0" algn="just" rtl="0">
              <a:lnSpc>
                <a:spcPct val="107916"/>
              </a:lnSpc>
              <a:spcBef>
                <a:spcPts val="0"/>
              </a:spcBef>
              <a:spcAft>
                <a:spcPts val="0"/>
              </a:spcAft>
              <a:buNone/>
            </a:pPr>
            <a:r>
              <a:rPr lang="en" sz="1500" b="1" u="sng">
                <a:solidFill>
                  <a:schemeClr val="dk1"/>
                </a:solidFill>
                <a:latin typeface="Times New Roman"/>
                <a:ea typeface="Times New Roman"/>
                <a:cs typeface="Times New Roman"/>
                <a:sym typeface="Times New Roman"/>
              </a:rPr>
              <a:t>CLI TOOL:</a:t>
            </a:r>
            <a:endParaRPr sz="1500" b="1" u="sng">
              <a:solidFill>
                <a:schemeClr val="dk1"/>
              </a:solidFill>
              <a:latin typeface="Times New Roman"/>
              <a:ea typeface="Times New Roman"/>
              <a:cs typeface="Times New Roman"/>
              <a:sym typeface="Times New Roman"/>
            </a:endParaRPr>
          </a:p>
          <a:p>
            <a:pPr marL="457200" marR="0" lvl="0" indent="-323850" algn="just" rtl="0">
              <a:lnSpc>
                <a:spcPct val="107916"/>
              </a:lnSpc>
              <a:spcBef>
                <a:spcPts val="80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Command Line Interface (CLI) tool developed to help the users input required parameters to generate the desired output - wildfire likelihood prediction or the cause of the wildfire prediction.</a:t>
            </a:r>
            <a:endParaRPr sz="1500">
              <a:solidFill>
                <a:schemeClr val="dk1"/>
              </a:solidFill>
              <a:latin typeface="Times New Roman"/>
              <a:ea typeface="Times New Roman"/>
              <a:cs typeface="Times New Roman"/>
              <a:sym typeface="Times New Roman"/>
            </a:endParaRPr>
          </a:p>
          <a:p>
            <a:pPr marL="457200" marR="0" lvl="0"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Real-time query processing using pre-trained XGBoost model</a:t>
            </a:r>
            <a:endParaRPr sz="1500">
              <a:solidFill>
                <a:schemeClr val="dk1"/>
              </a:solidFill>
              <a:latin typeface="Times New Roman"/>
              <a:ea typeface="Times New Roman"/>
              <a:cs typeface="Times New Roman"/>
              <a:sym typeface="Times New Roman"/>
            </a:endParaRPr>
          </a:p>
          <a:p>
            <a:pPr marL="457200" lvl="0"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User input: County, State, Year, and Month</a:t>
            </a:r>
            <a:endParaRPr sz="1500">
              <a:solidFill>
                <a:schemeClr val="dk1"/>
              </a:solidFill>
              <a:latin typeface="Times New Roman"/>
              <a:ea typeface="Times New Roman"/>
              <a:cs typeface="Times New Roman"/>
              <a:sym typeface="Times New Roman"/>
            </a:endParaRPr>
          </a:p>
          <a:p>
            <a:pPr marL="457200" lvl="0" indent="-323850" algn="just" rtl="0">
              <a:lnSpc>
                <a:spcPct val="107916"/>
              </a:lnSpc>
              <a:spcBef>
                <a:spcPts val="0"/>
              </a:spcBef>
              <a:spcAft>
                <a:spcPts val="0"/>
              </a:spcAft>
              <a:buClr>
                <a:schemeClr val="dk1"/>
              </a:buClr>
              <a:buSzPts val="1500"/>
              <a:buFont typeface="Times New Roman"/>
              <a:buChar char="●"/>
            </a:pPr>
            <a:r>
              <a:rPr lang="en" sz="1500">
                <a:solidFill>
                  <a:schemeClr val="dk1"/>
                </a:solidFill>
                <a:latin typeface="Times New Roman"/>
                <a:ea typeface="Times New Roman"/>
                <a:cs typeface="Times New Roman"/>
                <a:sym typeface="Times New Roman"/>
              </a:rPr>
              <a:t>Output: Wildfire risk score with 95% confidence interval</a:t>
            </a:r>
            <a:endParaRPr sz="1500">
              <a:solidFill>
                <a:schemeClr val="dk1"/>
              </a:solidFill>
              <a:latin typeface="Times New Roman"/>
              <a:ea typeface="Times New Roman"/>
              <a:cs typeface="Times New Roman"/>
              <a:sym typeface="Times New Roman"/>
            </a:endParaRPr>
          </a:p>
          <a:p>
            <a:pPr marL="0" lvl="0" indent="0" algn="just" rtl="0">
              <a:lnSpc>
                <a:spcPct val="107916"/>
              </a:lnSpc>
              <a:spcBef>
                <a:spcPts val="800"/>
              </a:spcBef>
              <a:spcAft>
                <a:spcPts val="800"/>
              </a:spcAft>
              <a:buNone/>
            </a:pPr>
            <a:endParaRPr sz="1500">
              <a:solidFill>
                <a:schemeClr val="dk1"/>
              </a:solidFill>
              <a:latin typeface="Times New Roman"/>
              <a:ea typeface="Times New Roman"/>
              <a:cs typeface="Times New Roman"/>
              <a:sym typeface="Times New Roman"/>
            </a:endParaRPr>
          </a:p>
        </p:txBody>
      </p:sp>
      <p:sp>
        <p:nvSpPr>
          <p:cNvPr id="110" name="Google Shape;110;p20"/>
          <p:cNvSpPr txBox="1"/>
          <p:nvPr/>
        </p:nvSpPr>
        <p:spPr>
          <a:xfrm>
            <a:off x="3590700" y="3039850"/>
            <a:ext cx="1962600" cy="35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accent5"/>
                </a:solidFill>
                <a:latin typeface="Times New Roman"/>
                <a:ea typeface="Times New Roman"/>
                <a:cs typeface="Times New Roman"/>
                <a:sym typeface="Times New Roman"/>
              </a:rPr>
              <a:t>Sample Output:</a:t>
            </a:r>
            <a:endParaRPr sz="1500">
              <a:solidFill>
                <a:schemeClr val="accent5"/>
              </a:solidFill>
              <a:latin typeface="Times New Roman"/>
              <a:ea typeface="Times New Roman"/>
              <a:cs typeface="Times New Roman"/>
              <a:sym typeface="Times New Roman"/>
            </a:endParaRPr>
          </a:p>
        </p:txBody>
      </p:sp>
      <p:pic>
        <p:nvPicPr>
          <p:cNvPr id="111" name="Google Shape;111;p20"/>
          <p:cNvPicPr preferRelativeResize="0"/>
          <p:nvPr/>
        </p:nvPicPr>
        <p:blipFill>
          <a:blip r:embed="rId3">
            <a:alphaModFix/>
          </a:blip>
          <a:stretch>
            <a:fillRect/>
          </a:stretch>
        </p:blipFill>
        <p:spPr>
          <a:xfrm>
            <a:off x="1154275" y="3393550"/>
            <a:ext cx="6835450" cy="1462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EXPERIMENTS AND OBSERVATIONS</a:t>
            </a:r>
            <a:endParaRPr/>
          </a:p>
        </p:txBody>
      </p:sp>
      <p:sp>
        <p:nvSpPr>
          <p:cNvPr id="117" name="Google Shape;117;p21"/>
          <p:cNvSpPr txBox="1">
            <a:spLocks noGrp="1"/>
          </p:cNvSpPr>
          <p:nvPr>
            <p:ph type="body" idx="1"/>
          </p:nvPr>
        </p:nvSpPr>
        <p:spPr>
          <a:xfrm>
            <a:off x="387900" y="1258800"/>
            <a:ext cx="5251800" cy="3349200"/>
          </a:xfrm>
          <a:prstGeom prst="rect">
            <a:avLst/>
          </a:prstGeom>
        </p:spPr>
        <p:txBody>
          <a:bodyPr spcFirstLastPara="1" wrap="square" lIns="91425" tIns="91425" rIns="91425" bIns="91425" anchor="t" anchorCtr="0">
            <a:noAutofit/>
          </a:bodyPr>
          <a:lstStyle/>
          <a:p>
            <a:pPr marL="0" lvl="0" indent="0" algn="just" rtl="0">
              <a:lnSpc>
                <a:spcPct val="107916"/>
              </a:lnSpc>
              <a:spcBef>
                <a:spcPts val="0"/>
              </a:spcBef>
              <a:spcAft>
                <a:spcPts val="0"/>
              </a:spcAft>
              <a:buNone/>
            </a:pPr>
            <a:r>
              <a:rPr lang="en" sz="1500" b="1">
                <a:latin typeface="Times New Roman"/>
                <a:ea typeface="Times New Roman"/>
                <a:cs typeface="Times New Roman"/>
                <a:sym typeface="Times New Roman"/>
              </a:rPr>
              <a:t>Model Performance:</a:t>
            </a:r>
            <a:endParaRPr sz="1500" b="1">
              <a:latin typeface="Times New Roman"/>
              <a:ea typeface="Times New Roman"/>
              <a:cs typeface="Times New Roman"/>
              <a:sym typeface="Times New Roman"/>
            </a:endParaRPr>
          </a:p>
          <a:p>
            <a:pPr marL="457200" lvl="0" indent="-323850" algn="just" rtl="0">
              <a:lnSpc>
                <a:spcPct val="107916"/>
              </a:lnSpc>
              <a:spcBef>
                <a:spcPts val="800"/>
              </a:spcBef>
              <a:spcAft>
                <a:spcPts val="0"/>
              </a:spcAft>
              <a:buSzPts val="1500"/>
              <a:buFont typeface="Times New Roman"/>
              <a:buChar char="●"/>
            </a:pPr>
            <a:r>
              <a:rPr lang="en" sz="1500" b="1">
                <a:latin typeface="Times New Roman"/>
                <a:ea typeface="Times New Roman"/>
                <a:cs typeface="Times New Roman"/>
                <a:sym typeface="Times New Roman"/>
              </a:rPr>
              <a:t>For likelihood of wildfire prediction, </a:t>
            </a:r>
            <a:r>
              <a:rPr lang="en" sz="1500">
                <a:latin typeface="Times New Roman"/>
                <a:ea typeface="Times New Roman"/>
                <a:cs typeface="Times New Roman"/>
                <a:sym typeface="Times New Roman"/>
              </a:rPr>
              <a:t>the XGBoost  model is moderately effective but struggles due to the inherently random and non-seasonal nature of wildfire occurrences.</a:t>
            </a:r>
            <a:endParaRPr sz="1500">
              <a:latin typeface="Times New Roman"/>
              <a:ea typeface="Times New Roman"/>
              <a:cs typeface="Times New Roman"/>
              <a:sym typeface="Times New Roman"/>
            </a:endParaRPr>
          </a:p>
          <a:p>
            <a:pPr marL="457200" lvl="0" indent="-323850" algn="just" rtl="0">
              <a:lnSpc>
                <a:spcPct val="107916"/>
              </a:lnSpc>
              <a:spcBef>
                <a:spcPts val="0"/>
              </a:spcBef>
              <a:spcAft>
                <a:spcPts val="0"/>
              </a:spcAft>
              <a:buSzPts val="1500"/>
              <a:buFont typeface="Times New Roman"/>
              <a:buChar char="●"/>
            </a:pPr>
            <a:r>
              <a:rPr lang="en" sz="1500">
                <a:latin typeface="Times New Roman"/>
                <a:ea typeface="Times New Roman"/>
                <a:cs typeface="Times New Roman"/>
                <a:sym typeface="Times New Roman"/>
              </a:rPr>
              <a:t>For the classification of the cause of the fire, Random Forest model gave pretty decent results at 62% accuracy that got enhanced to 83% after using SMOTE to balance class distribution.</a:t>
            </a:r>
            <a:endParaRPr sz="1500">
              <a:latin typeface="Times New Roman"/>
              <a:ea typeface="Times New Roman"/>
              <a:cs typeface="Times New Roman"/>
              <a:sym typeface="Times New Roman"/>
            </a:endParaRPr>
          </a:p>
          <a:p>
            <a:pPr marL="0" lvl="0" indent="0" algn="just" rtl="0">
              <a:lnSpc>
                <a:spcPct val="107916"/>
              </a:lnSpc>
              <a:spcBef>
                <a:spcPts val="800"/>
              </a:spcBef>
              <a:spcAft>
                <a:spcPts val="800"/>
              </a:spcAft>
              <a:buNone/>
            </a:pPr>
            <a:endParaRPr sz="1500">
              <a:latin typeface="Times New Roman"/>
              <a:ea typeface="Times New Roman"/>
              <a:cs typeface="Times New Roman"/>
              <a:sym typeface="Times New Roman"/>
            </a:endParaRPr>
          </a:p>
        </p:txBody>
      </p:sp>
      <p:graphicFrame>
        <p:nvGraphicFramePr>
          <p:cNvPr id="118" name="Google Shape;118;p21"/>
          <p:cNvGraphicFramePr/>
          <p:nvPr/>
        </p:nvGraphicFramePr>
        <p:xfrm>
          <a:off x="5707625" y="1760763"/>
          <a:ext cx="2975350" cy="1480538"/>
        </p:xfrm>
        <a:graphic>
          <a:graphicData uri="http://schemas.openxmlformats.org/drawingml/2006/table">
            <a:tbl>
              <a:tblPr>
                <a:noFill/>
                <a:tableStyleId>{21DCF6FC-CBAC-4C57-874E-255A2AC8927A}</a:tableStyleId>
              </a:tblPr>
              <a:tblGrid>
                <a:gridCol w="1597075">
                  <a:extLst>
                    <a:ext uri="{9D8B030D-6E8A-4147-A177-3AD203B41FA5}">
                      <a16:colId xmlns:a16="http://schemas.microsoft.com/office/drawing/2014/main" val="20000"/>
                    </a:ext>
                  </a:extLst>
                </a:gridCol>
                <a:gridCol w="661600">
                  <a:extLst>
                    <a:ext uri="{9D8B030D-6E8A-4147-A177-3AD203B41FA5}">
                      <a16:colId xmlns:a16="http://schemas.microsoft.com/office/drawing/2014/main" val="20001"/>
                    </a:ext>
                  </a:extLst>
                </a:gridCol>
                <a:gridCol w="716675">
                  <a:extLst>
                    <a:ext uri="{9D8B030D-6E8A-4147-A177-3AD203B41FA5}">
                      <a16:colId xmlns:a16="http://schemas.microsoft.com/office/drawing/2014/main" val="20002"/>
                    </a:ext>
                  </a:extLst>
                </a:gridCol>
              </a:tblGrid>
              <a:tr h="288750">
                <a:tc>
                  <a:txBody>
                    <a:bodyPr/>
                    <a:lstStyle/>
                    <a:p>
                      <a:pPr marL="0" lvl="0" indent="0" algn="ctr" rtl="0">
                        <a:lnSpc>
                          <a:spcPct val="115000"/>
                        </a:lnSpc>
                        <a:spcBef>
                          <a:spcPts val="1200"/>
                        </a:spcBef>
                        <a:spcAft>
                          <a:spcPts val="1200"/>
                        </a:spcAft>
                        <a:buNone/>
                      </a:pPr>
                      <a:r>
                        <a:rPr lang="en" sz="1500" b="1">
                          <a:solidFill>
                            <a:schemeClr val="dk1"/>
                          </a:solidFill>
                        </a:rPr>
                        <a:t>Model</a:t>
                      </a:r>
                      <a:endParaRPr sz="1500" b="1">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1500" b="1">
                          <a:solidFill>
                            <a:schemeClr val="dk1"/>
                          </a:solidFill>
                        </a:rPr>
                        <a:t>MAE</a:t>
                      </a:r>
                      <a:endParaRPr sz="1500" b="1">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1500" b="1">
                          <a:solidFill>
                            <a:schemeClr val="dk1"/>
                          </a:solidFill>
                        </a:rPr>
                        <a:t>R²</a:t>
                      </a:r>
                      <a:endParaRPr sz="1500" b="1">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28575">
                <a:tc>
                  <a:txBody>
                    <a:bodyPr/>
                    <a:lstStyle/>
                    <a:p>
                      <a:pPr marL="0" lvl="0" indent="0" algn="ctr" rtl="0">
                        <a:lnSpc>
                          <a:spcPct val="115000"/>
                        </a:lnSpc>
                        <a:spcBef>
                          <a:spcPts val="1200"/>
                        </a:spcBef>
                        <a:spcAft>
                          <a:spcPts val="1200"/>
                        </a:spcAft>
                        <a:buNone/>
                      </a:pPr>
                      <a:r>
                        <a:rPr lang="en" sz="1500">
                          <a:solidFill>
                            <a:schemeClr val="dk1"/>
                          </a:solidFill>
                        </a:rPr>
                        <a:t>Random Forest</a:t>
                      </a:r>
                      <a:endParaRPr sz="1500">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lnSpc>
                          <a:spcPct val="115000"/>
                        </a:lnSpc>
                        <a:spcBef>
                          <a:spcPts val="1200"/>
                        </a:spcBef>
                        <a:spcAft>
                          <a:spcPts val="1200"/>
                        </a:spcAft>
                        <a:buNone/>
                      </a:pPr>
                      <a:r>
                        <a:rPr lang="en">
                          <a:solidFill>
                            <a:schemeClr val="dk1"/>
                          </a:solidFill>
                        </a:rPr>
                        <a:t>~3.79</a:t>
                      </a:r>
                      <a:endParaRPr>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lnSpc>
                          <a:spcPct val="115000"/>
                        </a:lnSpc>
                        <a:spcBef>
                          <a:spcPts val="1200"/>
                        </a:spcBef>
                        <a:spcAft>
                          <a:spcPts val="1200"/>
                        </a:spcAft>
                        <a:buNone/>
                      </a:pPr>
                      <a:r>
                        <a:rPr lang="en">
                          <a:solidFill>
                            <a:schemeClr val="dk1"/>
                          </a:solidFill>
                        </a:rPr>
                        <a:t>~0.35</a:t>
                      </a:r>
                      <a:endParaRPr>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28575">
                <a:tc>
                  <a:txBody>
                    <a:bodyPr/>
                    <a:lstStyle/>
                    <a:p>
                      <a:pPr marL="0" lvl="0" indent="0" algn="ctr" rtl="0">
                        <a:lnSpc>
                          <a:spcPct val="115000"/>
                        </a:lnSpc>
                        <a:spcBef>
                          <a:spcPts val="1200"/>
                        </a:spcBef>
                        <a:spcAft>
                          <a:spcPts val="1200"/>
                        </a:spcAft>
                        <a:buNone/>
                      </a:pPr>
                      <a:r>
                        <a:rPr lang="en" sz="1500">
                          <a:solidFill>
                            <a:schemeClr val="dk1"/>
                          </a:solidFill>
                        </a:rPr>
                        <a:t>XGBoost(tuned)</a:t>
                      </a:r>
                      <a:endParaRPr sz="1500">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lnSpc>
                          <a:spcPct val="115000"/>
                        </a:lnSpc>
                        <a:spcBef>
                          <a:spcPts val="1200"/>
                        </a:spcBef>
                        <a:spcAft>
                          <a:spcPts val="1200"/>
                        </a:spcAft>
                        <a:buNone/>
                      </a:pPr>
                      <a:r>
                        <a:rPr lang="en">
                          <a:solidFill>
                            <a:schemeClr val="dk1"/>
                          </a:solidFill>
                        </a:rPr>
                        <a:t>~3.37</a:t>
                      </a:r>
                      <a:endParaRPr>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lnSpc>
                          <a:spcPct val="115000"/>
                        </a:lnSpc>
                        <a:spcBef>
                          <a:spcPts val="1200"/>
                        </a:spcBef>
                        <a:spcAft>
                          <a:spcPts val="1200"/>
                        </a:spcAft>
                        <a:buNone/>
                      </a:pPr>
                      <a:r>
                        <a:rPr lang="en">
                          <a:solidFill>
                            <a:schemeClr val="dk1"/>
                          </a:solidFill>
                        </a:rPr>
                        <a:t>~0.48</a:t>
                      </a:r>
                      <a:endParaRPr>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aphicFrame>
        <p:nvGraphicFramePr>
          <p:cNvPr id="119" name="Google Shape;119;p21"/>
          <p:cNvGraphicFramePr/>
          <p:nvPr/>
        </p:nvGraphicFramePr>
        <p:xfrm>
          <a:off x="952475" y="3846025"/>
          <a:ext cx="7730475" cy="1109666"/>
        </p:xfrm>
        <a:graphic>
          <a:graphicData uri="http://schemas.openxmlformats.org/drawingml/2006/table">
            <a:tbl>
              <a:tblPr>
                <a:noFill/>
                <a:tableStyleId>{21DCF6FC-CBAC-4C57-874E-255A2AC8927A}</a:tableStyleId>
              </a:tblPr>
              <a:tblGrid>
                <a:gridCol w="1104350">
                  <a:extLst>
                    <a:ext uri="{9D8B030D-6E8A-4147-A177-3AD203B41FA5}">
                      <a16:colId xmlns:a16="http://schemas.microsoft.com/office/drawing/2014/main" val="20000"/>
                    </a:ext>
                  </a:extLst>
                </a:gridCol>
                <a:gridCol w="1104350">
                  <a:extLst>
                    <a:ext uri="{9D8B030D-6E8A-4147-A177-3AD203B41FA5}">
                      <a16:colId xmlns:a16="http://schemas.microsoft.com/office/drawing/2014/main" val="20001"/>
                    </a:ext>
                  </a:extLst>
                </a:gridCol>
                <a:gridCol w="1104350">
                  <a:extLst>
                    <a:ext uri="{9D8B030D-6E8A-4147-A177-3AD203B41FA5}">
                      <a16:colId xmlns:a16="http://schemas.microsoft.com/office/drawing/2014/main" val="20002"/>
                    </a:ext>
                  </a:extLst>
                </a:gridCol>
                <a:gridCol w="1104350">
                  <a:extLst>
                    <a:ext uri="{9D8B030D-6E8A-4147-A177-3AD203B41FA5}">
                      <a16:colId xmlns:a16="http://schemas.microsoft.com/office/drawing/2014/main" val="20003"/>
                    </a:ext>
                  </a:extLst>
                </a:gridCol>
                <a:gridCol w="1104350">
                  <a:extLst>
                    <a:ext uri="{9D8B030D-6E8A-4147-A177-3AD203B41FA5}">
                      <a16:colId xmlns:a16="http://schemas.microsoft.com/office/drawing/2014/main" val="20004"/>
                    </a:ext>
                  </a:extLst>
                </a:gridCol>
                <a:gridCol w="1194700">
                  <a:extLst>
                    <a:ext uri="{9D8B030D-6E8A-4147-A177-3AD203B41FA5}">
                      <a16:colId xmlns:a16="http://schemas.microsoft.com/office/drawing/2014/main" val="20005"/>
                    </a:ext>
                  </a:extLst>
                </a:gridCol>
                <a:gridCol w="1014025">
                  <a:extLst>
                    <a:ext uri="{9D8B030D-6E8A-4147-A177-3AD203B41FA5}">
                      <a16:colId xmlns:a16="http://schemas.microsoft.com/office/drawing/2014/main" val="20006"/>
                    </a:ext>
                  </a:extLst>
                </a:gridCol>
              </a:tblGrid>
              <a:tr h="381000">
                <a:tc>
                  <a:txBody>
                    <a:bodyPr/>
                    <a:lstStyle/>
                    <a:p>
                      <a:pPr marL="0" lvl="0" indent="0" algn="ctr" rtl="0">
                        <a:lnSpc>
                          <a:spcPct val="115000"/>
                        </a:lnSpc>
                        <a:spcBef>
                          <a:spcPts val="1200"/>
                        </a:spcBef>
                        <a:spcAft>
                          <a:spcPts val="1200"/>
                        </a:spcAft>
                        <a:buNone/>
                      </a:pPr>
                      <a:r>
                        <a:rPr lang="en" sz="1500" b="1">
                          <a:solidFill>
                            <a:schemeClr val="dk1"/>
                          </a:solidFill>
                        </a:rPr>
                        <a:t>Model</a:t>
                      </a:r>
                      <a:endParaRPr sz="1500" b="1">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lnSpc>
                          <a:spcPct val="115000"/>
                        </a:lnSpc>
                        <a:spcBef>
                          <a:spcPts val="1200"/>
                        </a:spcBef>
                        <a:spcAft>
                          <a:spcPts val="1200"/>
                        </a:spcAft>
                        <a:buNone/>
                      </a:pPr>
                      <a:r>
                        <a:rPr lang="en" sz="1500">
                          <a:solidFill>
                            <a:schemeClr val="dk1"/>
                          </a:solidFill>
                        </a:rPr>
                        <a:t>Random Forest</a:t>
                      </a:r>
                      <a:endParaRPr sz="1500">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lnSpc>
                          <a:spcPct val="115000"/>
                        </a:lnSpc>
                        <a:spcBef>
                          <a:spcPts val="1200"/>
                        </a:spcBef>
                        <a:spcAft>
                          <a:spcPts val="1200"/>
                        </a:spcAft>
                        <a:buNone/>
                      </a:pPr>
                      <a:r>
                        <a:rPr lang="en" sz="1500">
                          <a:solidFill>
                            <a:schemeClr val="dk1"/>
                          </a:solidFill>
                        </a:rPr>
                        <a:t>XGBoost (no null)</a:t>
                      </a:r>
                      <a:endParaRPr sz="1500">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lnSpc>
                          <a:spcPct val="115000"/>
                        </a:lnSpc>
                        <a:spcBef>
                          <a:spcPts val="1200"/>
                        </a:spcBef>
                        <a:spcAft>
                          <a:spcPts val="1200"/>
                        </a:spcAft>
                        <a:buNone/>
                      </a:pPr>
                      <a:r>
                        <a:rPr lang="en" sz="1500">
                          <a:solidFill>
                            <a:schemeClr val="dk1"/>
                          </a:solidFill>
                        </a:rPr>
                        <a:t>Decision Tree</a:t>
                      </a:r>
                      <a:endParaRPr sz="1500">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lnSpc>
                          <a:spcPct val="115000"/>
                        </a:lnSpc>
                        <a:spcBef>
                          <a:spcPts val="1200"/>
                        </a:spcBef>
                        <a:spcAft>
                          <a:spcPts val="1200"/>
                        </a:spcAft>
                        <a:buNone/>
                      </a:pPr>
                      <a:r>
                        <a:rPr lang="en" sz="1500">
                          <a:solidFill>
                            <a:schemeClr val="dk1"/>
                          </a:solidFill>
                        </a:rPr>
                        <a:t>KNN</a:t>
                      </a:r>
                      <a:endParaRPr sz="1500">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1200"/>
                        </a:spcBef>
                        <a:spcAft>
                          <a:spcPts val="1200"/>
                        </a:spcAft>
                        <a:buNone/>
                      </a:pPr>
                      <a:r>
                        <a:rPr lang="en" sz="1500">
                          <a:solidFill>
                            <a:schemeClr val="dk1"/>
                          </a:solidFill>
                        </a:rPr>
                        <a:t>Logistic Regression</a:t>
                      </a:r>
                      <a:endParaRPr sz="1500">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lnSpc>
                          <a:spcPct val="115000"/>
                        </a:lnSpc>
                        <a:spcBef>
                          <a:spcPts val="1200"/>
                        </a:spcBef>
                        <a:spcAft>
                          <a:spcPts val="1200"/>
                        </a:spcAft>
                        <a:buNone/>
                      </a:pPr>
                      <a:r>
                        <a:rPr lang="en" sz="1500">
                          <a:solidFill>
                            <a:schemeClr val="dk1"/>
                          </a:solidFill>
                        </a:rPr>
                        <a:t>Linear SVC</a:t>
                      </a:r>
                      <a:endParaRPr sz="1500">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lnSpc>
                          <a:spcPct val="115000"/>
                        </a:lnSpc>
                        <a:spcBef>
                          <a:spcPts val="1200"/>
                        </a:spcBef>
                        <a:spcAft>
                          <a:spcPts val="1200"/>
                        </a:spcAft>
                        <a:buNone/>
                      </a:pPr>
                      <a:r>
                        <a:rPr lang="en" sz="1500" b="1">
                          <a:solidFill>
                            <a:schemeClr val="dk1"/>
                          </a:solidFill>
                        </a:rPr>
                        <a:t>Accuracy</a:t>
                      </a:r>
                      <a:endParaRPr sz="1500">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lnSpc>
                          <a:spcPct val="115000"/>
                        </a:lnSpc>
                        <a:spcBef>
                          <a:spcPts val="1200"/>
                        </a:spcBef>
                        <a:spcAft>
                          <a:spcPts val="1200"/>
                        </a:spcAft>
                        <a:buNone/>
                      </a:pPr>
                      <a:r>
                        <a:rPr lang="en" sz="1500">
                          <a:solidFill>
                            <a:schemeClr val="dk1"/>
                          </a:solidFill>
                        </a:rPr>
                        <a:t>62%</a:t>
                      </a:r>
                      <a:endParaRPr sz="1500">
                        <a:solidFill>
                          <a:schemeClr val="dk1"/>
                        </a:solidFill>
                      </a:endParaRPr>
                    </a:p>
                  </a:txBody>
                  <a:tcPr marL="68575" marR="68575" marT="91425" marB="914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lnSpc>
                          <a:spcPct val="115000"/>
                        </a:lnSpc>
                        <a:spcBef>
                          <a:spcPts val="1200"/>
                        </a:spcBef>
                        <a:spcAft>
                          <a:spcPts val="1200"/>
                        </a:spcAft>
                        <a:buNone/>
                      </a:pPr>
                      <a:r>
                        <a:rPr lang="en" sz="1500">
                          <a:solidFill>
                            <a:schemeClr val="dk1"/>
                          </a:solidFill>
                        </a:rPr>
                        <a:t>60%</a:t>
                      </a:r>
                      <a:endParaRPr sz="1500">
                        <a:solidFill>
                          <a:schemeClr val="dk1"/>
                        </a:solidFill>
                      </a:endParaRPr>
                    </a:p>
                  </a:txBody>
                  <a:tcPr marL="68575" marR="68575" marT="91425" marB="91425">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1200"/>
                        </a:spcBef>
                        <a:spcAft>
                          <a:spcPts val="1200"/>
                        </a:spcAft>
                        <a:buNone/>
                      </a:pPr>
                      <a:r>
                        <a:rPr lang="en" sz="1500">
                          <a:solidFill>
                            <a:schemeClr val="dk1"/>
                          </a:solidFill>
                        </a:rPr>
                        <a:t>62%</a:t>
                      </a:r>
                      <a:endParaRPr sz="1500">
                        <a:solidFill>
                          <a:schemeClr val="dk1"/>
                        </a:solidFill>
                      </a:endParaRPr>
                    </a:p>
                  </a:txBody>
                  <a:tcPr marL="68575" marR="6857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1200"/>
                        </a:spcBef>
                        <a:spcAft>
                          <a:spcPts val="1200"/>
                        </a:spcAft>
                        <a:buNone/>
                      </a:pPr>
                      <a:r>
                        <a:rPr lang="en" sz="1500">
                          <a:solidFill>
                            <a:schemeClr val="dk1"/>
                          </a:solidFill>
                        </a:rPr>
                        <a:t>50%</a:t>
                      </a:r>
                      <a:endParaRPr sz="1500">
                        <a:solidFill>
                          <a:schemeClr val="dk1"/>
                        </a:solidFill>
                      </a:endParaRPr>
                    </a:p>
                  </a:txBody>
                  <a:tcPr marL="68575" marR="6857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1200"/>
                        </a:spcBef>
                        <a:spcAft>
                          <a:spcPts val="1200"/>
                        </a:spcAft>
                        <a:buNone/>
                      </a:pPr>
                      <a:r>
                        <a:rPr lang="en" sz="1500">
                          <a:solidFill>
                            <a:schemeClr val="dk1"/>
                          </a:solidFill>
                        </a:rPr>
                        <a:t>47%</a:t>
                      </a:r>
                      <a:endParaRPr sz="1500">
                        <a:solidFill>
                          <a:schemeClr val="dk1"/>
                        </a:solidFill>
                      </a:endParaRPr>
                    </a:p>
                  </a:txBody>
                  <a:tcPr marL="68575" marR="6857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1200"/>
                        </a:spcBef>
                        <a:spcAft>
                          <a:spcPts val="1200"/>
                        </a:spcAft>
                        <a:buNone/>
                      </a:pPr>
                      <a:r>
                        <a:rPr lang="en" sz="1500">
                          <a:solidFill>
                            <a:schemeClr val="dk1"/>
                          </a:solidFill>
                        </a:rPr>
                        <a:t>25%</a:t>
                      </a:r>
                      <a:endParaRPr sz="1500">
                        <a:solidFill>
                          <a:schemeClr val="dk1"/>
                        </a:solidFill>
                      </a:endParaRPr>
                    </a:p>
                  </a:txBody>
                  <a:tcPr marL="68575" marR="6857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20" name="Google Shape;120;p21"/>
          <p:cNvSpPr txBox="1"/>
          <p:nvPr/>
        </p:nvSpPr>
        <p:spPr>
          <a:xfrm>
            <a:off x="6289600" y="1449425"/>
            <a:ext cx="1811400" cy="31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accent5"/>
                </a:solidFill>
                <a:latin typeface="Roboto"/>
                <a:ea typeface="Roboto"/>
                <a:cs typeface="Roboto"/>
                <a:sym typeface="Roboto"/>
              </a:rPr>
              <a:t>Wildfire Likelihood</a:t>
            </a:r>
            <a:endParaRPr sz="1500">
              <a:solidFill>
                <a:schemeClr val="accent5"/>
              </a:solidFill>
              <a:latin typeface="Roboto"/>
              <a:ea typeface="Roboto"/>
              <a:cs typeface="Roboto"/>
              <a:sym typeface="Roboto"/>
            </a:endParaRPr>
          </a:p>
        </p:txBody>
      </p:sp>
      <p:sp>
        <p:nvSpPr>
          <p:cNvPr id="121" name="Google Shape;121;p21"/>
          <p:cNvSpPr txBox="1"/>
          <p:nvPr/>
        </p:nvSpPr>
        <p:spPr>
          <a:xfrm>
            <a:off x="3988745" y="3513625"/>
            <a:ext cx="1498800" cy="24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accent5"/>
                </a:solidFill>
                <a:latin typeface="Roboto"/>
                <a:ea typeface="Roboto"/>
                <a:cs typeface="Roboto"/>
                <a:sym typeface="Roboto"/>
              </a:rPr>
              <a:t>Wildfire Cause</a:t>
            </a:r>
            <a:endParaRPr sz="1500">
              <a:solidFill>
                <a:schemeClr val="accent5"/>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2"/>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DISCUSSION</a:t>
            </a:r>
            <a:endParaRPr/>
          </a:p>
        </p:txBody>
      </p:sp>
      <p:sp>
        <p:nvSpPr>
          <p:cNvPr id="127" name="Google Shape;127;p22"/>
          <p:cNvSpPr txBox="1">
            <a:spLocks noGrp="1"/>
          </p:cNvSpPr>
          <p:nvPr>
            <p:ph type="body" idx="1"/>
          </p:nvPr>
        </p:nvSpPr>
        <p:spPr>
          <a:xfrm>
            <a:off x="378725" y="1280225"/>
            <a:ext cx="8368200" cy="325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b="1" u="sng">
                <a:latin typeface="Times New Roman"/>
                <a:ea typeface="Times New Roman"/>
                <a:cs typeface="Times New Roman"/>
                <a:sym typeface="Times New Roman"/>
              </a:rPr>
              <a:t>Model Strengths and Weaknesses:</a:t>
            </a:r>
            <a:endParaRPr sz="1500" b="1" u="sng">
              <a:latin typeface="Times New Roman"/>
              <a:ea typeface="Times New Roman"/>
              <a:cs typeface="Times New Roman"/>
              <a:sym typeface="Times New Roman"/>
            </a:endParaRPr>
          </a:p>
          <a:p>
            <a:pPr marL="457200" lvl="0" indent="-323850" algn="l" rtl="0">
              <a:spcBef>
                <a:spcPts val="1200"/>
              </a:spcBef>
              <a:spcAft>
                <a:spcPts val="0"/>
              </a:spcAft>
              <a:buSzPts val="1500"/>
              <a:buFont typeface="Times New Roman"/>
              <a:buChar char="●"/>
            </a:pPr>
            <a:r>
              <a:rPr lang="en" sz="1500">
                <a:latin typeface="Times New Roman"/>
                <a:ea typeface="Times New Roman"/>
                <a:cs typeface="Times New Roman"/>
                <a:sym typeface="Times New Roman"/>
              </a:rPr>
              <a:t>XGBoost demonstrated strong performance in regression tasks, particularly after tuning, but lacked transparency.</a:t>
            </a:r>
            <a:endParaRPr sz="1500">
              <a:latin typeface="Times New Roman"/>
              <a:ea typeface="Times New Roman"/>
              <a:cs typeface="Times New Roman"/>
              <a:sym typeface="Times New Roman"/>
            </a:endParaRPr>
          </a:p>
          <a:p>
            <a:pPr marL="457200" lvl="0" indent="-323850" algn="l" rtl="0">
              <a:spcBef>
                <a:spcPts val="0"/>
              </a:spcBef>
              <a:spcAft>
                <a:spcPts val="0"/>
              </a:spcAft>
              <a:buSzPts val="1500"/>
              <a:buFont typeface="Times New Roman"/>
              <a:buChar char="●"/>
            </a:pPr>
            <a:r>
              <a:rPr lang="en" sz="1500">
                <a:latin typeface="Times New Roman"/>
                <a:ea typeface="Times New Roman"/>
                <a:cs typeface="Times New Roman"/>
                <a:sym typeface="Times New Roman"/>
              </a:rPr>
              <a:t>Random Forest proved superior for classification, but is prone to overfitting.</a:t>
            </a:r>
            <a:endParaRPr sz="1500">
              <a:latin typeface="Times New Roman"/>
              <a:ea typeface="Times New Roman"/>
              <a:cs typeface="Times New Roman"/>
              <a:sym typeface="Times New Roman"/>
            </a:endParaRPr>
          </a:p>
          <a:p>
            <a:pPr marL="457200" lvl="0" indent="-323850" algn="l" rtl="0">
              <a:spcBef>
                <a:spcPts val="0"/>
              </a:spcBef>
              <a:spcAft>
                <a:spcPts val="0"/>
              </a:spcAft>
              <a:buSzPts val="1500"/>
              <a:buFont typeface="Times New Roman"/>
              <a:buChar char="●"/>
            </a:pPr>
            <a:r>
              <a:rPr lang="en" sz="1500">
                <a:latin typeface="Times New Roman"/>
                <a:ea typeface="Times New Roman"/>
                <a:cs typeface="Times New Roman"/>
                <a:sym typeface="Times New Roman"/>
              </a:rPr>
              <a:t>Simpler models underperformed due to the complex and non-linear nature of the wildfire dataset.</a:t>
            </a:r>
            <a:endParaRPr sz="1500">
              <a:latin typeface="Times New Roman"/>
              <a:ea typeface="Times New Roman"/>
              <a:cs typeface="Times New Roman"/>
              <a:sym typeface="Times New Roman"/>
            </a:endParaRPr>
          </a:p>
          <a:p>
            <a:pPr marL="457200" lvl="0" indent="0" algn="l" rtl="0">
              <a:spcBef>
                <a:spcPts val="1200"/>
              </a:spcBef>
              <a:spcAft>
                <a:spcPts val="0"/>
              </a:spcAft>
              <a:buNone/>
            </a:pPr>
            <a:endParaRPr sz="100">
              <a:latin typeface="Times New Roman"/>
              <a:ea typeface="Times New Roman"/>
              <a:cs typeface="Times New Roman"/>
              <a:sym typeface="Times New Roman"/>
            </a:endParaRPr>
          </a:p>
          <a:p>
            <a:pPr marL="0" lvl="0" indent="0" algn="l" rtl="0">
              <a:spcBef>
                <a:spcPts val="1200"/>
              </a:spcBef>
              <a:spcAft>
                <a:spcPts val="0"/>
              </a:spcAft>
              <a:buNone/>
            </a:pPr>
            <a:r>
              <a:rPr lang="en" sz="1500" b="1" u="sng">
                <a:latin typeface="Times New Roman"/>
                <a:ea typeface="Times New Roman"/>
                <a:cs typeface="Times New Roman"/>
                <a:sym typeface="Times New Roman"/>
              </a:rPr>
              <a:t>Challenges and Limitations:</a:t>
            </a:r>
            <a:endParaRPr sz="1500" b="1" u="sng">
              <a:latin typeface="Times New Roman"/>
              <a:ea typeface="Times New Roman"/>
              <a:cs typeface="Times New Roman"/>
              <a:sym typeface="Times New Roman"/>
            </a:endParaRPr>
          </a:p>
          <a:p>
            <a:pPr marL="457200" lvl="0" indent="-323850" algn="l" rtl="0">
              <a:spcBef>
                <a:spcPts val="1200"/>
              </a:spcBef>
              <a:spcAft>
                <a:spcPts val="0"/>
              </a:spcAft>
              <a:buSzPts val="1500"/>
              <a:buFont typeface="Times New Roman"/>
              <a:buChar char="●"/>
            </a:pPr>
            <a:r>
              <a:rPr lang="en" sz="1500">
                <a:latin typeface="Times New Roman"/>
                <a:ea typeface="Times New Roman"/>
                <a:cs typeface="Times New Roman"/>
                <a:sym typeface="Times New Roman"/>
              </a:rPr>
              <a:t>The lack of seasonality or temporal regularity made time series approaches like Prophet unsuitable.</a:t>
            </a:r>
            <a:endParaRPr sz="1500">
              <a:latin typeface="Times New Roman"/>
              <a:ea typeface="Times New Roman"/>
              <a:cs typeface="Times New Roman"/>
              <a:sym typeface="Times New Roman"/>
            </a:endParaRPr>
          </a:p>
          <a:p>
            <a:pPr marL="457200" lvl="0" indent="-323850" algn="l" rtl="0">
              <a:spcBef>
                <a:spcPts val="0"/>
              </a:spcBef>
              <a:spcAft>
                <a:spcPts val="0"/>
              </a:spcAft>
              <a:buSzPts val="1500"/>
              <a:buFont typeface="Times New Roman"/>
              <a:buChar char="●"/>
            </a:pPr>
            <a:r>
              <a:rPr lang="en" sz="1500">
                <a:latin typeface="Times New Roman"/>
                <a:ea typeface="Times New Roman"/>
                <a:cs typeface="Times New Roman"/>
                <a:sym typeface="Times New Roman"/>
              </a:rPr>
              <a:t>Data imbalance significantly affected classification accuracy.</a:t>
            </a:r>
            <a:endParaRPr sz="1500">
              <a:latin typeface="Times New Roman"/>
              <a:ea typeface="Times New Roman"/>
              <a:cs typeface="Times New Roman"/>
              <a:sym typeface="Times New Roman"/>
            </a:endParaRPr>
          </a:p>
          <a:p>
            <a:pPr marL="457200" lvl="0" indent="-323850" algn="l" rtl="0">
              <a:spcBef>
                <a:spcPts val="0"/>
              </a:spcBef>
              <a:spcAft>
                <a:spcPts val="0"/>
              </a:spcAft>
              <a:buSzPts val="1500"/>
              <a:buChar char="●"/>
            </a:pPr>
            <a:r>
              <a:rPr lang="en" sz="1500">
                <a:latin typeface="Times New Roman"/>
                <a:ea typeface="Times New Roman"/>
                <a:cs typeface="Times New Roman"/>
                <a:sym typeface="Times New Roman"/>
              </a:rPr>
              <a:t>Lack of many contributing environmental variables (e.g., humidity, wind speed) hindered the model accuracy.</a:t>
            </a:r>
            <a:endParaRPr sz="1500">
              <a:latin typeface="Times New Roman"/>
              <a:ea typeface="Times New Roman"/>
              <a:cs typeface="Times New Roman"/>
              <a:sym typeface="Times New Roman"/>
            </a:endParaRPr>
          </a:p>
          <a:p>
            <a:pPr marL="0" lvl="0" indent="0" algn="l" rtl="0">
              <a:spcBef>
                <a:spcPts val="1200"/>
              </a:spcBef>
              <a:spcAft>
                <a:spcPts val="0"/>
              </a:spcAft>
              <a:buNone/>
            </a:pPr>
            <a:endParaRPr sz="1500">
              <a:latin typeface="Times New Roman"/>
              <a:ea typeface="Times New Roman"/>
              <a:cs typeface="Times New Roman"/>
              <a:sym typeface="Times New Roman"/>
            </a:endParaRPr>
          </a:p>
          <a:p>
            <a:pPr marL="0" lvl="0" indent="0" algn="l" rtl="0">
              <a:spcBef>
                <a:spcPts val="1200"/>
              </a:spcBef>
              <a:spcAft>
                <a:spcPts val="1200"/>
              </a:spcAft>
              <a:buNone/>
            </a:pPr>
            <a:endParaRPr sz="1500" b="1" u="sng">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3"/>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CONCLUSION</a:t>
            </a:r>
            <a:endParaRPr/>
          </a:p>
        </p:txBody>
      </p:sp>
      <p:sp>
        <p:nvSpPr>
          <p:cNvPr id="133" name="Google Shape;133;p23"/>
          <p:cNvSpPr txBox="1">
            <a:spLocks noGrp="1"/>
          </p:cNvSpPr>
          <p:nvPr>
            <p:ph type="body" idx="1"/>
          </p:nvPr>
        </p:nvSpPr>
        <p:spPr>
          <a:xfrm>
            <a:off x="378725" y="1280225"/>
            <a:ext cx="8238900" cy="3254700"/>
          </a:xfrm>
          <a:prstGeom prst="rect">
            <a:avLst/>
          </a:prstGeom>
        </p:spPr>
        <p:txBody>
          <a:bodyPr spcFirstLastPara="1" wrap="square" lIns="91425" tIns="91425" rIns="91425" bIns="91425" anchor="t" anchorCtr="0">
            <a:noAutofit/>
          </a:bodyPr>
          <a:lstStyle/>
          <a:p>
            <a:pPr marL="457200" lvl="0" indent="-323850" algn="just" rtl="0">
              <a:spcBef>
                <a:spcPts val="0"/>
              </a:spcBef>
              <a:spcAft>
                <a:spcPts val="0"/>
              </a:spcAft>
              <a:buSzPts val="1500"/>
              <a:buFont typeface="Times New Roman"/>
              <a:buChar char="●"/>
            </a:pPr>
            <a:r>
              <a:rPr lang="en" sz="1500">
                <a:latin typeface="Times New Roman"/>
                <a:ea typeface="Times New Roman"/>
                <a:cs typeface="Times New Roman"/>
                <a:sym typeface="Times New Roman"/>
              </a:rPr>
              <a:t>This study demonstrated the feasibility and effectiveness of using machine learning for both wildfire likelihood forecasting and cause classification.</a:t>
            </a:r>
            <a:endParaRPr sz="1500">
              <a:latin typeface="Times New Roman"/>
              <a:ea typeface="Times New Roman"/>
              <a:cs typeface="Times New Roman"/>
              <a:sym typeface="Times New Roman"/>
            </a:endParaRPr>
          </a:p>
          <a:p>
            <a:pPr marL="457200" lvl="0" indent="0" algn="just" rtl="0">
              <a:spcBef>
                <a:spcPts val="1200"/>
              </a:spcBef>
              <a:spcAft>
                <a:spcPts val="0"/>
              </a:spcAft>
              <a:buNone/>
            </a:pPr>
            <a:endParaRPr sz="100">
              <a:latin typeface="Times New Roman"/>
              <a:ea typeface="Times New Roman"/>
              <a:cs typeface="Times New Roman"/>
              <a:sym typeface="Times New Roman"/>
            </a:endParaRPr>
          </a:p>
          <a:p>
            <a:pPr marL="457200" lvl="0" indent="-323850" algn="just" rtl="0">
              <a:spcBef>
                <a:spcPts val="1200"/>
              </a:spcBef>
              <a:spcAft>
                <a:spcPts val="0"/>
              </a:spcAft>
              <a:buSzPts val="1500"/>
              <a:buFont typeface="Times New Roman"/>
              <a:buChar char="●"/>
            </a:pPr>
            <a:r>
              <a:rPr lang="en" sz="1500">
                <a:latin typeface="Times New Roman"/>
                <a:ea typeface="Times New Roman"/>
                <a:cs typeface="Times New Roman"/>
                <a:sym typeface="Times New Roman"/>
              </a:rPr>
              <a:t>Accurate forecasting and cause classification can enable more timely responses, optimized resource allocation, improved risk communication and policy development,, early fire detection in high-risk zones,  and comprehensive pre- and post-event analysis.</a:t>
            </a:r>
            <a:endParaRPr sz="1500">
              <a:latin typeface="Times New Roman"/>
              <a:ea typeface="Times New Roman"/>
              <a:cs typeface="Times New Roman"/>
              <a:sym typeface="Times New Roman"/>
            </a:endParaRPr>
          </a:p>
          <a:p>
            <a:pPr marL="457200" lvl="0" indent="0" algn="just" rtl="0">
              <a:spcBef>
                <a:spcPts val="1200"/>
              </a:spcBef>
              <a:spcAft>
                <a:spcPts val="0"/>
              </a:spcAft>
              <a:buNone/>
            </a:pPr>
            <a:endParaRPr sz="100">
              <a:latin typeface="Times New Roman"/>
              <a:ea typeface="Times New Roman"/>
              <a:cs typeface="Times New Roman"/>
              <a:sym typeface="Times New Roman"/>
            </a:endParaRPr>
          </a:p>
          <a:p>
            <a:pPr marL="457200" lvl="0" indent="-323850" algn="just" rtl="0">
              <a:spcBef>
                <a:spcPts val="1200"/>
              </a:spcBef>
              <a:spcAft>
                <a:spcPts val="0"/>
              </a:spcAft>
              <a:buSzPts val="1500"/>
              <a:buFont typeface="Times New Roman"/>
              <a:buChar char="●"/>
            </a:pPr>
            <a:r>
              <a:rPr lang="en" sz="1500">
                <a:latin typeface="Times New Roman"/>
                <a:ea typeface="Times New Roman"/>
                <a:cs typeface="Times New Roman"/>
                <a:sym typeface="Times New Roman"/>
              </a:rPr>
              <a:t>To carry this analysis further, more environmental variables such as wind speed, temperature and humidity can be added to the dataset for a more robust and accurate predictive system.</a:t>
            </a:r>
            <a:endParaRPr sz="1500">
              <a:latin typeface="Times New Roman"/>
              <a:ea typeface="Times New Roman"/>
              <a:cs typeface="Times New Roman"/>
              <a:sym typeface="Times New Roman"/>
            </a:endParaRPr>
          </a:p>
          <a:p>
            <a:pPr marL="457200" lvl="0" indent="0" algn="just" rtl="0">
              <a:spcBef>
                <a:spcPts val="1200"/>
              </a:spcBef>
              <a:spcAft>
                <a:spcPts val="0"/>
              </a:spcAft>
              <a:buNone/>
            </a:pPr>
            <a:endParaRPr sz="100">
              <a:latin typeface="Times New Roman"/>
              <a:ea typeface="Times New Roman"/>
              <a:cs typeface="Times New Roman"/>
              <a:sym typeface="Times New Roman"/>
            </a:endParaRPr>
          </a:p>
          <a:p>
            <a:pPr marL="457200" lvl="0" indent="-323850" algn="just" rtl="0">
              <a:spcBef>
                <a:spcPts val="1200"/>
              </a:spcBef>
              <a:spcAft>
                <a:spcPts val="0"/>
              </a:spcAft>
              <a:buSzPts val="1500"/>
              <a:buFont typeface="Times New Roman"/>
              <a:buChar char="●"/>
            </a:pPr>
            <a:r>
              <a:rPr lang="en" sz="1500">
                <a:latin typeface="Times New Roman"/>
                <a:ea typeface="Times New Roman"/>
                <a:cs typeface="Times New Roman"/>
                <a:sym typeface="Times New Roman"/>
              </a:rPr>
              <a:t>Additionally, exploring advanced deep learning architectures such as temporal-spatial neural networks may lead to even more robust and scalable solutions.</a:t>
            </a:r>
            <a:endParaRPr sz="15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REFERENCES</a:t>
            </a:r>
            <a:endParaRPr/>
          </a:p>
        </p:txBody>
      </p:sp>
      <p:sp>
        <p:nvSpPr>
          <p:cNvPr id="139" name="Google Shape;139;p24"/>
          <p:cNvSpPr txBox="1">
            <a:spLocks noGrp="1"/>
          </p:cNvSpPr>
          <p:nvPr>
            <p:ph type="body" idx="1"/>
          </p:nvPr>
        </p:nvSpPr>
        <p:spPr>
          <a:xfrm>
            <a:off x="387900" y="1354475"/>
            <a:ext cx="8368200" cy="3254700"/>
          </a:xfrm>
          <a:prstGeom prst="rect">
            <a:avLst/>
          </a:prstGeom>
        </p:spPr>
        <p:txBody>
          <a:bodyPr spcFirstLastPara="1" wrap="square" lIns="91425" tIns="91425" rIns="91425" bIns="91425" anchor="t" anchorCtr="0">
            <a:noAutofit/>
          </a:bodyPr>
          <a:lstStyle/>
          <a:p>
            <a:pPr marL="0" lvl="0" indent="0" algn="just" rtl="0">
              <a:spcBef>
                <a:spcPts val="1200"/>
              </a:spcBef>
              <a:spcAft>
                <a:spcPts val="0"/>
              </a:spcAft>
              <a:buNone/>
            </a:pPr>
            <a:r>
              <a:rPr lang="en" sz="1500">
                <a:latin typeface="Times New Roman"/>
                <a:ea typeface="Times New Roman"/>
                <a:cs typeface="Times New Roman"/>
                <a:sym typeface="Times New Roman"/>
              </a:rPr>
              <a:t>[1] A. Pereira, M. Santos, and L. Rodrigues, "Wildfire susceptibility mapping using machine learning techniques in Portugal," </a:t>
            </a:r>
            <a:r>
              <a:rPr lang="en" sz="1500" i="1">
                <a:latin typeface="Times New Roman"/>
                <a:ea typeface="Times New Roman"/>
                <a:cs typeface="Times New Roman"/>
                <a:sym typeface="Times New Roman"/>
              </a:rPr>
              <a:t>Environ. Rev.</a:t>
            </a:r>
            <a:r>
              <a:rPr lang="en" sz="1500">
                <a:latin typeface="Times New Roman"/>
                <a:ea typeface="Times New Roman"/>
                <a:cs typeface="Times New Roman"/>
                <a:sym typeface="Times New Roman"/>
              </a:rPr>
              <a:t>, vol. 28, no. 4, pp. 402–417, 2020. [Online]. Available:</a:t>
            </a:r>
            <a:r>
              <a:rPr lang="en" sz="1500" u="sng">
                <a:latin typeface="Times New Roman"/>
                <a:ea typeface="Times New Roman"/>
                <a:cs typeface="Times New Roman"/>
                <a:sym typeface="Times New Roman"/>
              </a:rPr>
              <a:t> https://doi.org/10.1139/er-2020-0019</a:t>
            </a:r>
            <a:endParaRPr sz="1500">
              <a:latin typeface="Times New Roman"/>
              <a:ea typeface="Times New Roman"/>
              <a:cs typeface="Times New Roman"/>
              <a:sym typeface="Times New Roman"/>
            </a:endParaRPr>
          </a:p>
          <a:p>
            <a:pPr marL="0" lvl="0" indent="0" algn="just" rtl="0">
              <a:spcBef>
                <a:spcPts val="1200"/>
              </a:spcBef>
              <a:spcAft>
                <a:spcPts val="0"/>
              </a:spcAft>
              <a:buNone/>
            </a:pPr>
            <a:r>
              <a:rPr lang="en" sz="1500">
                <a:latin typeface="Times New Roman"/>
                <a:ea typeface="Times New Roman"/>
                <a:cs typeface="Times New Roman"/>
                <a:sym typeface="Times New Roman"/>
              </a:rPr>
              <a:t>[2] P. Sobha and S. Latifi, "A survey of the machine learning models for forest fire prediction and detection," </a:t>
            </a:r>
            <a:r>
              <a:rPr lang="en" sz="1500" i="1">
                <a:latin typeface="Times New Roman"/>
                <a:ea typeface="Times New Roman"/>
                <a:cs typeface="Times New Roman"/>
                <a:sym typeface="Times New Roman"/>
              </a:rPr>
              <a:t>Int. J. Commun. Netw. Syst. Sci.</a:t>
            </a:r>
            <a:r>
              <a:rPr lang="en" sz="1500">
                <a:latin typeface="Times New Roman"/>
                <a:ea typeface="Times New Roman"/>
                <a:cs typeface="Times New Roman"/>
                <a:sym typeface="Times New Roman"/>
              </a:rPr>
              <a:t>, vol. 16, no. 7, pp. 131–150, 2023. [Online]. Available: </a:t>
            </a:r>
            <a:r>
              <a:rPr lang="en" sz="1500" u="sng">
                <a:latin typeface="Times New Roman"/>
                <a:ea typeface="Times New Roman"/>
                <a:cs typeface="Times New Roman"/>
                <a:sym typeface="Times New Roman"/>
                <a:hlinkClick r:id="rId3"/>
              </a:rPr>
              <a:t>https://doi.org/10.4236/ijcns.2023.167010</a:t>
            </a:r>
            <a:endParaRPr sz="1500">
              <a:latin typeface="Times New Roman"/>
              <a:ea typeface="Times New Roman"/>
              <a:cs typeface="Times New Roman"/>
              <a:sym typeface="Times New Roman"/>
            </a:endParaRPr>
          </a:p>
          <a:p>
            <a:pPr marL="0" lvl="0" indent="0" algn="just" rtl="0">
              <a:spcBef>
                <a:spcPts val="1200"/>
              </a:spcBef>
              <a:spcAft>
                <a:spcPts val="0"/>
              </a:spcAft>
              <a:buNone/>
            </a:pPr>
            <a:r>
              <a:rPr lang="en" sz="1500">
                <a:latin typeface="Times New Roman"/>
                <a:ea typeface="Times New Roman"/>
                <a:cs typeface="Times New Roman"/>
                <a:sym typeface="Times New Roman"/>
              </a:rPr>
              <a:t>[3] S. Choi, J. Lee, Y. Kim, and H. Jang, "Predicting Forest Fire Area Growth Rate Using an Ensemble Algorithm," </a:t>
            </a:r>
            <a:r>
              <a:rPr lang="en" sz="1500" i="1">
                <a:latin typeface="Times New Roman"/>
                <a:ea typeface="Times New Roman"/>
                <a:cs typeface="Times New Roman"/>
                <a:sym typeface="Times New Roman"/>
              </a:rPr>
              <a:t>Forests</a:t>
            </a:r>
            <a:r>
              <a:rPr lang="en" sz="1500">
                <a:latin typeface="Times New Roman"/>
                <a:ea typeface="Times New Roman"/>
                <a:cs typeface="Times New Roman"/>
                <a:sym typeface="Times New Roman"/>
              </a:rPr>
              <a:t>, vol. 15, no. 2, pp. 321–335, 2024. [Online]. Available: </a:t>
            </a:r>
            <a:r>
              <a:rPr lang="en" sz="1500" u="sng">
                <a:latin typeface="Times New Roman"/>
                <a:ea typeface="Times New Roman"/>
                <a:cs typeface="Times New Roman"/>
                <a:sym typeface="Times New Roman"/>
                <a:hlinkClick r:id="rId4"/>
              </a:rPr>
              <a:t>https://doi.org/10.3390/f15020321</a:t>
            </a:r>
            <a:endParaRPr sz="1500">
              <a:latin typeface="Times New Roman"/>
              <a:ea typeface="Times New Roman"/>
              <a:cs typeface="Times New Roman"/>
              <a:sym typeface="Times New Roman"/>
            </a:endParaRPr>
          </a:p>
          <a:p>
            <a:pPr marL="0" lvl="0" indent="0" algn="just" rtl="0">
              <a:spcBef>
                <a:spcPts val="1200"/>
              </a:spcBef>
              <a:spcAft>
                <a:spcPts val="0"/>
              </a:spcAft>
              <a:buNone/>
            </a:pPr>
            <a:r>
              <a:rPr lang="en" sz="1500">
                <a:latin typeface="Times New Roman"/>
                <a:ea typeface="Times New Roman"/>
                <a:cs typeface="Times New Roman"/>
                <a:sym typeface="Times New Roman"/>
              </a:rPr>
              <a:t>[4] Z. Xu, J. Li, S. Cheng, X. Rui, Y. Zhao, H. He, and L. Xu, "Wildfire Risk Prediction: A Review," </a:t>
            </a:r>
            <a:r>
              <a:rPr lang="en" sz="1500" i="1">
                <a:latin typeface="Times New Roman"/>
                <a:ea typeface="Times New Roman"/>
                <a:cs typeface="Times New Roman"/>
                <a:sym typeface="Times New Roman"/>
              </a:rPr>
              <a:t>arXiv</a:t>
            </a:r>
            <a:r>
              <a:rPr lang="en" sz="1500">
                <a:latin typeface="Times New Roman"/>
                <a:ea typeface="Times New Roman"/>
                <a:cs typeface="Times New Roman"/>
                <a:sym typeface="Times New Roman"/>
              </a:rPr>
              <a:t>, May 2024. [Online]. Available:</a:t>
            </a:r>
            <a:r>
              <a:rPr lang="en" sz="1500">
                <a:uFill>
                  <a:noFill/>
                </a:uFill>
                <a:latin typeface="Times New Roman"/>
                <a:ea typeface="Times New Roman"/>
                <a:cs typeface="Times New Roman"/>
                <a:sym typeface="Times New Roman"/>
                <a:hlinkClick r:id="rId5"/>
              </a:rPr>
              <a:t> </a:t>
            </a:r>
            <a:r>
              <a:rPr lang="en" sz="1500" u="sng">
                <a:latin typeface="Times New Roman"/>
                <a:ea typeface="Times New Roman"/>
                <a:cs typeface="Times New Roman"/>
                <a:sym typeface="Times New Roman"/>
                <a:hlinkClick r:id="rId5"/>
              </a:rPr>
              <a:t>https://arxiv.org/abs/2405.01607</a:t>
            </a:r>
            <a:endParaRPr sz="1500">
              <a:latin typeface="Times New Roman"/>
              <a:ea typeface="Times New Roman"/>
              <a:cs typeface="Times New Roman"/>
              <a:sym typeface="Times New Roman"/>
            </a:endParaRPr>
          </a:p>
          <a:p>
            <a:pPr marL="0" lvl="0" indent="0" algn="just" rtl="0">
              <a:spcBef>
                <a:spcPts val="1200"/>
              </a:spcBef>
              <a:spcAft>
                <a:spcPts val="0"/>
              </a:spcAft>
              <a:buNone/>
            </a:pPr>
            <a:endParaRPr sz="1500">
              <a:latin typeface="Times New Roman"/>
              <a:ea typeface="Times New Roman"/>
              <a:cs typeface="Times New Roman"/>
              <a:sym typeface="Times New Roman"/>
            </a:endParaRPr>
          </a:p>
          <a:p>
            <a:pPr marL="0" lvl="0" indent="0" algn="just" rtl="0">
              <a:spcBef>
                <a:spcPts val="1200"/>
              </a:spcBef>
              <a:spcAft>
                <a:spcPts val="0"/>
              </a:spcAft>
              <a:buNone/>
            </a:pPr>
            <a:endParaRPr sz="1500">
              <a:solidFill>
                <a:srgbClr val="000000"/>
              </a:solidFill>
              <a:latin typeface="Times New Roman"/>
              <a:ea typeface="Times New Roman"/>
              <a:cs typeface="Times New Roman"/>
              <a:sym typeface="Times New Roman"/>
            </a:endParaRPr>
          </a:p>
          <a:p>
            <a:pPr marL="0" lvl="0" indent="0" algn="just" rtl="0">
              <a:spcBef>
                <a:spcPts val="1200"/>
              </a:spcBef>
              <a:spcAft>
                <a:spcPts val="0"/>
              </a:spcAft>
              <a:buNone/>
            </a:pPr>
            <a:endParaRPr sz="1500">
              <a:solidFill>
                <a:srgbClr val="000000"/>
              </a:solidFill>
              <a:latin typeface="Times New Roman"/>
              <a:ea typeface="Times New Roman"/>
              <a:cs typeface="Times New Roman"/>
              <a:sym typeface="Times New Roman"/>
            </a:endParaRPr>
          </a:p>
          <a:p>
            <a:pPr marL="0" lvl="0" indent="0" algn="just" rtl="0">
              <a:lnSpc>
                <a:spcPct val="95000"/>
              </a:lnSpc>
              <a:spcBef>
                <a:spcPts val="1200"/>
              </a:spcBef>
              <a:spcAft>
                <a:spcPts val="1200"/>
              </a:spcAft>
              <a:buSzPts val="440"/>
              <a:buNone/>
            </a:pPr>
            <a:endParaRPr sz="15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REFERENCES (contd.)</a:t>
            </a:r>
            <a:endParaRPr/>
          </a:p>
        </p:txBody>
      </p:sp>
      <p:sp>
        <p:nvSpPr>
          <p:cNvPr id="145" name="Google Shape;145;p25"/>
          <p:cNvSpPr txBox="1">
            <a:spLocks noGrp="1"/>
          </p:cNvSpPr>
          <p:nvPr>
            <p:ph type="body" idx="1"/>
          </p:nvPr>
        </p:nvSpPr>
        <p:spPr>
          <a:xfrm>
            <a:off x="151025" y="1371400"/>
            <a:ext cx="8605200" cy="3254700"/>
          </a:xfrm>
          <a:prstGeom prst="rect">
            <a:avLst/>
          </a:prstGeom>
        </p:spPr>
        <p:txBody>
          <a:bodyPr spcFirstLastPara="1" wrap="square" lIns="91425" tIns="91425" rIns="91425" bIns="91425" anchor="t" anchorCtr="0">
            <a:noAutofit/>
          </a:bodyPr>
          <a:lstStyle/>
          <a:p>
            <a:pPr marL="228600" lvl="0" indent="0" algn="just" rtl="0">
              <a:spcBef>
                <a:spcPts val="1200"/>
              </a:spcBef>
              <a:spcAft>
                <a:spcPts val="0"/>
              </a:spcAft>
              <a:buNone/>
            </a:pPr>
            <a:r>
              <a:rPr lang="en" sz="1500">
                <a:latin typeface="Times New Roman"/>
                <a:ea typeface="Times New Roman"/>
                <a:cs typeface="Times New Roman"/>
                <a:sym typeface="Times New Roman"/>
              </a:rPr>
              <a:t>[5]	 O. Bolukbasi, "Wildfire Data Analysis," GitHub, May 2024. [Online]. Available:</a:t>
            </a:r>
            <a:r>
              <a:rPr lang="en" sz="1500">
                <a:uFill>
                  <a:noFill/>
                </a:uFill>
                <a:latin typeface="Times New Roman"/>
                <a:ea typeface="Times New Roman"/>
                <a:cs typeface="Times New Roman"/>
                <a:sym typeface="Times New Roman"/>
                <a:hlinkClick r:id="rId3"/>
              </a:rPr>
              <a:t> </a:t>
            </a:r>
            <a:r>
              <a:rPr lang="en" sz="1500" u="sng">
                <a:latin typeface="Times New Roman"/>
                <a:ea typeface="Times New Roman"/>
                <a:cs typeface="Times New Roman"/>
                <a:sym typeface="Times New Roman"/>
                <a:hlinkClick r:id="rId3"/>
              </a:rPr>
              <a:t>https://github.com/omerbolukbasi/wildfire_data_analysis/blob/main/wildfire_data_analysis_omer_bolukbasi.ipynb</a:t>
            </a:r>
            <a:endParaRPr sz="1500" u="sng">
              <a:latin typeface="Times New Roman"/>
              <a:ea typeface="Times New Roman"/>
              <a:cs typeface="Times New Roman"/>
              <a:sym typeface="Times New Roman"/>
            </a:endParaRPr>
          </a:p>
          <a:p>
            <a:pPr marL="228600" lvl="0" indent="0" algn="just" rtl="0">
              <a:spcBef>
                <a:spcPts val="1200"/>
              </a:spcBef>
              <a:spcAft>
                <a:spcPts val="0"/>
              </a:spcAft>
              <a:buNone/>
            </a:pPr>
            <a:r>
              <a:rPr lang="en" sz="1500">
                <a:latin typeface="Times New Roman"/>
                <a:ea typeface="Times New Roman"/>
                <a:cs typeface="Times New Roman"/>
                <a:sym typeface="Times New Roman"/>
              </a:rPr>
              <a:t>[6]	   E. Rodrigues, B. Zadrozny, and C. Watson, "Wildfire Risk Forecast: An Optimizable Fire Danger Index," arXiv preprint arXiv:2203.15558, Mar. 2022. [Online]. Available:</a:t>
            </a:r>
            <a:r>
              <a:rPr lang="en" sz="1500">
                <a:uFill>
                  <a:noFill/>
                </a:uFill>
                <a:latin typeface="Times New Roman"/>
                <a:ea typeface="Times New Roman"/>
                <a:cs typeface="Times New Roman"/>
                <a:sym typeface="Times New Roman"/>
                <a:hlinkClick r:id="rId4"/>
              </a:rPr>
              <a:t> </a:t>
            </a:r>
            <a:r>
              <a:rPr lang="en" sz="1500" u="sng">
                <a:latin typeface="Times New Roman"/>
                <a:ea typeface="Times New Roman"/>
                <a:cs typeface="Times New Roman"/>
                <a:sym typeface="Times New Roman"/>
                <a:hlinkClick r:id="rId4"/>
              </a:rPr>
              <a:t>https://arxiv.org/abs/2203.15558</a:t>
            </a:r>
            <a:endParaRPr sz="1500" u="sng">
              <a:latin typeface="Times New Roman"/>
              <a:ea typeface="Times New Roman"/>
              <a:cs typeface="Times New Roman"/>
              <a:sym typeface="Times New Roman"/>
            </a:endParaRPr>
          </a:p>
          <a:p>
            <a:pPr marL="228600" lvl="0" indent="0" algn="just" rtl="0">
              <a:spcBef>
                <a:spcPts val="1200"/>
              </a:spcBef>
              <a:spcAft>
                <a:spcPts val="0"/>
              </a:spcAft>
              <a:buNone/>
            </a:pPr>
            <a:r>
              <a:rPr lang="en" sz="1500">
                <a:latin typeface="Times New Roman"/>
                <a:ea typeface="Times New Roman"/>
                <a:cs typeface="Times New Roman"/>
                <a:sym typeface="Times New Roman"/>
              </a:rPr>
              <a:t>[7]  I. Zhang, "Project: Wildfire Risk and Information System," GitHub, 2021. [Online]. Available:</a:t>
            </a:r>
            <a:r>
              <a:rPr lang="en" sz="1500">
                <a:uFill>
                  <a:noFill/>
                </a:uFill>
                <a:latin typeface="Times New Roman"/>
                <a:ea typeface="Times New Roman"/>
                <a:cs typeface="Times New Roman"/>
                <a:sym typeface="Times New Roman"/>
                <a:hlinkClick r:id="rId5"/>
              </a:rPr>
              <a:t> </a:t>
            </a:r>
            <a:r>
              <a:rPr lang="en" sz="1500" u="sng">
                <a:latin typeface="Times New Roman"/>
                <a:ea typeface="Times New Roman"/>
                <a:cs typeface="Times New Roman"/>
                <a:sym typeface="Times New Roman"/>
                <a:hlinkClick r:id="rId5"/>
              </a:rPr>
              <a:t>https://github.com/irenezh1016/Project-Wildfire</a:t>
            </a:r>
            <a:endParaRPr sz="1500" u="sng">
              <a:latin typeface="Times New Roman"/>
              <a:ea typeface="Times New Roman"/>
              <a:cs typeface="Times New Roman"/>
              <a:sym typeface="Times New Roman"/>
            </a:endParaRPr>
          </a:p>
          <a:p>
            <a:pPr marL="228600" lvl="0" indent="0" algn="just" rtl="0">
              <a:spcBef>
                <a:spcPts val="1200"/>
              </a:spcBef>
              <a:spcAft>
                <a:spcPts val="0"/>
              </a:spcAft>
              <a:buNone/>
            </a:pPr>
            <a:r>
              <a:rPr lang="en" sz="1500">
                <a:latin typeface="Times New Roman"/>
                <a:ea typeface="Times New Roman"/>
                <a:cs typeface="Times New Roman"/>
                <a:sym typeface="Times New Roman"/>
              </a:rPr>
              <a:t>[8]    P. Ngwu, "Australian Wildfire Data Analysis and Visualization," GitHub, 2021. [Online]. Available:</a:t>
            </a:r>
            <a:r>
              <a:rPr lang="en" sz="1500">
                <a:uFill>
                  <a:noFill/>
                </a:uFill>
                <a:latin typeface="Times New Roman"/>
                <a:ea typeface="Times New Roman"/>
                <a:cs typeface="Times New Roman"/>
                <a:sym typeface="Times New Roman"/>
                <a:hlinkClick r:id="rId6"/>
              </a:rPr>
              <a:t> </a:t>
            </a:r>
            <a:r>
              <a:rPr lang="en" sz="1500" u="sng">
                <a:latin typeface="Times New Roman"/>
                <a:ea typeface="Times New Roman"/>
                <a:cs typeface="Times New Roman"/>
                <a:sym typeface="Times New Roman"/>
                <a:hlinkClick r:id="rId6"/>
              </a:rPr>
              <a:t>https://github.com/ngwuprince/Australian-wild-fire-data-analysis-and-visualization</a:t>
            </a:r>
            <a:endParaRPr sz="1500" u="sng">
              <a:latin typeface="Times New Roman"/>
              <a:ea typeface="Times New Roman"/>
              <a:cs typeface="Times New Roman"/>
              <a:sym typeface="Times New Roman"/>
            </a:endParaRPr>
          </a:p>
          <a:p>
            <a:pPr marL="0" lvl="0" indent="0" algn="just" rtl="0">
              <a:spcBef>
                <a:spcPts val="1200"/>
              </a:spcBef>
              <a:spcAft>
                <a:spcPts val="0"/>
              </a:spcAft>
              <a:buNone/>
            </a:pPr>
            <a:endParaRPr sz="1500">
              <a:latin typeface="Times New Roman"/>
              <a:ea typeface="Times New Roman"/>
              <a:cs typeface="Times New Roman"/>
              <a:sym typeface="Times New Roman"/>
            </a:endParaRPr>
          </a:p>
          <a:p>
            <a:pPr marL="0" lvl="0" indent="0" algn="just" rtl="0">
              <a:spcBef>
                <a:spcPts val="1200"/>
              </a:spcBef>
              <a:spcAft>
                <a:spcPts val="0"/>
              </a:spcAft>
              <a:buNone/>
            </a:pPr>
            <a:endParaRPr sz="1500">
              <a:latin typeface="Times New Roman"/>
              <a:ea typeface="Times New Roman"/>
              <a:cs typeface="Times New Roman"/>
              <a:sym typeface="Times New Roman"/>
            </a:endParaRPr>
          </a:p>
          <a:p>
            <a:pPr marL="0" lvl="0" indent="0" algn="just" rtl="0">
              <a:lnSpc>
                <a:spcPct val="95000"/>
              </a:lnSpc>
              <a:spcBef>
                <a:spcPts val="1200"/>
              </a:spcBef>
              <a:spcAft>
                <a:spcPts val="1200"/>
              </a:spcAft>
              <a:buSzPts val="440"/>
              <a:buNone/>
            </a:pPr>
            <a:endParaRPr sz="15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1436</Words>
  <Application>Microsoft Office PowerPoint</Application>
  <PresentationFormat>On-screen Show (16:9)</PresentationFormat>
  <Paragraphs>125</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Roboto</vt:lpstr>
      <vt:lpstr>Roboto Slab</vt:lpstr>
      <vt:lpstr>Arial</vt:lpstr>
      <vt:lpstr>Times New Roman</vt:lpstr>
      <vt:lpstr>Marina</vt:lpstr>
      <vt:lpstr>CSIT558_01SP25 | FINAL PROJECT:  A Comparative Study of Predicting Wildfire Likelihood and Causes Using ML Models </vt:lpstr>
      <vt:lpstr>INTRODUCTION</vt:lpstr>
      <vt:lpstr>RELATED WORK</vt:lpstr>
      <vt:lpstr>DATA OVERVIEW/ANALYSIS</vt:lpstr>
      <vt:lpstr>DATA OVERVIEW/ANALYSIS</vt:lpstr>
      <vt:lpstr>APPROACH &amp; IMPLEMENTATION</vt:lpstr>
      <vt:lpstr>APPROACH &amp; IMPLEMENTATION</vt:lpstr>
      <vt:lpstr>APPROACH &amp; IMPLEMENTATION</vt:lpstr>
      <vt:lpstr>EXPERIMENTS AND OBSERVATIONS</vt:lpstr>
      <vt:lpstr>DISCUSSION</vt:lpstr>
      <vt:lpstr>CONCLUSION</vt:lpstr>
      <vt:lpstr>REFERENCES</vt:lpstr>
      <vt:lpstr>REFERENCES (contd.)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Syed Mehrose Javed</cp:lastModifiedBy>
  <cp:revision>2</cp:revision>
  <dcterms:modified xsi:type="dcterms:W3CDTF">2025-05-01T18:12:19Z</dcterms:modified>
</cp:coreProperties>
</file>